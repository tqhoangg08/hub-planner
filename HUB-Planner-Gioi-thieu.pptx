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??u: gi?i thi?u HUB Planner l? n?n t?ng h? tr? sinh vi?n HUB trong c?c t?c v? h?ng ng?y.
Nh?n m?nh: h?c t?p, l?ch, s? ki?n, c?ng ??ng v? AI ???c gom trong m?t web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Sinh vi?n ph?i tra c?u nhi?u h? th?ng v? t? t?nh to?n b?ng Excel ho?c ghi ch?.
HUB Planner gom, chu?n h?a v? hi?n th? l?i theo ng? c?nh sinh vi?n.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Sinh vi?n l? ng??i d?ng ch?nh, admin/auditor gi?p ??m b?o d? li?u v? v?n h?nh.
Onboarding thu th?ng tin kh?a, ch??ng tr?nh, ng?nh/chuy?n ng?nh ?? t?nh to?n ch?nh x?c h?n.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tr?n c?c h?m calculateCumulativeStats, calculateSemesterStats, calculateRequiredGPA.
Kh?ng ch? hi?n th? ?i?m m? c?n bi?n ?i?m th?nh l? tr?nh h?nh ??ng.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th? demo b?ng m?t h?c k? m?u: nh?p ?i?m, xem GPA thay ??i.
Nh?n m?nh ph?n qu?n l? gi?p admin xem d? li?u to?n tr??ng.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l?ch tu?n, l?ch th?ng, user_schedules, labels, makeup_schedules.
Sinh vi?n kh?ng c?n t? k? l?ch ho?c nh? tu?n h?c.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s? ki?n gi?p sinh vi?n ch? ??ng t?ch l?y ?RL.
C? ph?n quy?n qu?n l? t??ng t? c?c m?n admin kh?c.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Lost-found, handbook, feedback gi?p sinh vi?n gi?i quy?t v?n ?? th?c t?.
Trang ch? mobile ??ng vai tr? hub th?ng tin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MobileAIAdvisor gom d? li?u h?c t?p b?ng getStudentContext v? g?i t?i /api/bot.
AI h? tr? t? ph?n t?ch nhanh, kh?ng thay th? c? v?n h?c t?p ch?nh th?c.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K?t lu?n b?ng l?i ?ch ch?nh: ch? ??ng, t?p trung, gi?m ph?n m?nh th?ng tin.
??nh h??ng ph?t tri?n: ho?n thi?n d? li?u, t?ng tr?i nghi?m mobile v? m? r?ng t?ch h?p th?ng 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UB_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3375"/>
          </a:solidFill>
          <a:ln w="12700">
            <a:solidFill>
              <a:srgbClr val="003375"/>
            </a:solidFill>
            <a:prstDash val="solid"/>
          </a:ln>
        </p:spPr>
      </p:sp>
      <p:sp>
        <p:nvSpPr>
          <p:cNvPr id="3" name="Text 1"/>
          <p:cNvSpPr/>
          <p:nvPr/>
        </p:nvSpPr>
        <p:spPr>
          <a:xfrm>
            <a:off x="502920" y="6473952"/>
            <a:ext cx="2011680" cy="182880"/>
          </a:xfrm>
          <a:prstGeom prst="rect">
            <a:avLst/>
          </a:prstGeom>
          <a:noFill/>
          <a:ln/>
        </p:spPr>
        <p:txBody>
          <a:bodyPr wrap="square" lIns="0" tIns="0" rIns="0" bIns="0" rtlCol="0" anchor="ctr"/>
          <a:lstStyle/>
          <a:p>
            <a:pPr indent="0" marL="0">
              <a:buNone/>
            </a:pPr>
            <a:r>
              <a:rPr lang="en-US" sz="850" b="1" dirty="0">
                <a:solidFill>
                  <a:srgbClr val="64748B"/>
                </a:solidFill>
              </a:rPr>
              <a:t>HUB Planner</a:t>
            </a:r>
            <a:endParaRPr lang="en-US" sz="850" dirty="0"/>
          </a:p>
        </p:txBody>
      </p:sp>
      <p:sp>
        <p:nvSpPr>
          <p:cNvPr id="4" name="Text 2"/>
          <p:cNvSpPr/>
          <p:nvPr/>
        </p:nvSpPr>
        <p:spPr>
          <a:xfrm>
            <a:off x="9555480" y="6473952"/>
            <a:ext cx="2148840" cy="182880"/>
          </a:xfrm>
          <a:prstGeom prst="rect">
            <a:avLst/>
          </a:prstGeom>
          <a:noFill/>
          <a:ln/>
        </p:spPr>
        <p:txBody>
          <a:bodyPr wrap="square" lIns="0" tIns="0" rIns="0" bIns="0" rtlCol="0" anchor="ctr"/>
          <a:lstStyle/>
          <a:p>
            <a:pPr algn="r" indent="0" marL="0">
              <a:buNone/>
            </a:pPr>
            <a:r>
              <a:rPr lang="en-US" sz="850" dirty="0">
                <a:solidFill>
                  <a:srgbClr val="64748B"/>
                </a:solidFill>
              </a:rPr>
              <a:t>H? tr? Sinh vi?n</a:t>
            </a: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7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3375"/>
          </a:solidFill>
          <a:ln w="12700">
            <a:solidFill>
              <a:srgbClr val="003375"/>
            </a:solidFill>
            <a:prstDash val="solid"/>
          </a:ln>
        </p:spPr>
      </p:sp>
      <p:sp>
        <p:nvSpPr>
          <p:cNvPr id="3" name="Shape 1"/>
          <p:cNvSpPr/>
          <p:nvPr/>
        </p:nvSpPr>
        <p:spPr>
          <a:xfrm>
            <a:off x="7955280" y="-1005840"/>
            <a:ext cx="5212080" cy="5212080"/>
          </a:xfrm>
          <a:prstGeom prst="ellipse">
            <a:avLst/>
          </a:prstGeom>
          <a:solidFill>
            <a:srgbClr val="FFFFFF">
              <a:alpha val="5000"/>
            </a:srgbClr>
          </a:solidFill>
          <a:ln w="12700">
            <a:solidFill>
              <a:srgbClr val="FFFFFF">
                <a:alpha val="12000"/>
              </a:srgbClr>
            </a:solidFill>
            <a:prstDash val="solid"/>
          </a:ln>
        </p:spPr>
      </p:sp>
      <p:sp>
        <p:nvSpPr>
          <p:cNvPr id="4" name="Shape 2"/>
          <p:cNvSpPr/>
          <p:nvPr/>
        </p:nvSpPr>
        <p:spPr>
          <a:xfrm>
            <a:off x="-1097280" y="4206240"/>
            <a:ext cx="3108960" cy="3108960"/>
          </a:xfrm>
          <a:prstGeom prst="ellipse">
            <a:avLst/>
          </a:prstGeom>
          <a:solidFill>
            <a:srgbClr val="FFFFFF">
              <a:alpha val="4000"/>
            </a:srgbClr>
          </a:solidFill>
          <a:ln w="12700">
            <a:solidFill>
              <a:srgbClr val="FFFFFF">
                <a:alpha val="10000"/>
              </a:srgbClr>
            </a:solidFill>
            <a:prstDash val="solid"/>
          </a:ln>
        </p:spPr>
      </p:sp>
      <p:pic>
        <p:nvPicPr>
          <p:cNvPr id="5"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6" name="Text 3"/>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HUB Planner</a:t>
            </a:r>
            <a:endParaRPr lang="en-US" sz="1200" dirty="0"/>
          </a:p>
        </p:txBody>
      </p:sp>
      <p:sp>
        <p:nvSpPr>
          <p:cNvPr id="7" name="Text 4"/>
          <p:cNvSpPr/>
          <p:nvPr/>
        </p:nvSpPr>
        <p:spPr>
          <a:xfrm>
            <a:off x="685800" y="1554480"/>
            <a:ext cx="6949440" cy="685800"/>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Aptos Display" pitchFamily="34" charset="0"/>
                <a:ea typeface="Aptos Display" pitchFamily="34" charset="-122"/>
                <a:cs typeface="Aptos Display" pitchFamily="34" charset="-120"/>
              </a:rPr>
              <a:t>HUB Planner</a:t>
            </a:r>
            <a:endParaRPr lang="en-US" sz="4400" dirty="0"/>
          </a:p>
        </p:txBody>
      </p:sp>
      <p:sp>
        <p:nvSpPr>
          <p:cNvPr id="8" name="Text 5"/>
          <p:cNvSpPr/>
          <p:nvPr/>
        </p:nvSpPr>
        <p:spPr>
          <a:xfrm>
            <a:off x="713232" y="2331720"/>
            <a:ext cx="4846320" cy="365760"/>
          </a:xfrm>
          <a:prstGeom prst="rect">
            <a:avLst/>
          </a:prstGeom>
          <a:noFill/>
          <a:ln/>
        </p:spPr>
        <p:txBody>
          <a:bodyPr wrap="square" lIns="0" tIns="0" rIns="0" bIns="0" rtlCol="0" anchor="ctr">
            <a:normAutofit/>
          </a:bodyPr>
          <a:lstStyle/>
          <a:p>
            <a:pPr indent="0" marL="0">
              <a:buNone/>
            </a:pPr>
            <a:r>
              <a:rPr lang="en-US" sz="2200" b="1" dirty="0">
                <a:solidFill>
                  <a:srgbClr val="DDEBFF"/>
                </a:solidFill>
              </a:rPr>
              <a:t>H? tr? Sinh vi?n</a:t>
            </a:r>
            <a:endParaRPr lang="en-US" sz="2200" dirty="0"/>
          </a:p>
        </p:txBody>
      </p:sp>
      <p:sp>
        <p:nvSpPr>
          <p:cNvPr id="9" name="Text 6"/>
          <p:cNvSpPr/>
          <p:nvPr/>
        </p:nvSpPr>
        <p:spPr>
          <a:xfrm>
            <a:off x="731520" y="2971800"/>
            <a:ext cx="7040880" cy="640080"/>
          </a:xfrm>
          <a:prstGeom prst="rect">
            <a:avLst/>
          </a:prstGeom>
          <a:noFill/>
          <a:ln/>
        </p:spPr>
        <p:txBody>
          <a:bodyPr wrap="square" lIns="254" tIns="254" rIns="254" bIns="254" rtlCol="0" anchor="ctr">
            <a:normAutofit/>
          </a:bodyPr>
          <a:lstStyle/>
          <a:p>
            <a:pPr indent="0" marL="0">
              <a:buNone/>
            </a:pPr>
            <a:r>
              <a:rPr lang="en-US" sz="1600" dirty="0">
                <a:solidFill>
                  <a:srgbClr val="EAF4FF"/>
                </a:solidFill>
              </a:rPr>
              <a:t>Website qu?n l? h?c t?p, l?ch h?c, ho?t ??ng sinh vi?n v? ti?n ?ch c?ng ??ng d?nh cho sinh vi?n HUB.</a:t>
            </a:r>
            <a:endParaRPr lang="en-US" sz="1600" dirty="0"/>
          </a:p>
        </p:txBody>
      </p:sp>
      <p:sp>
        <p:nvSpPr>
          <p:cNvPr id="10" name="Shape 7"/>
          <p:cNvSpPr/>
          <p:nvPr/>
        </p:nvSpPr>
        <p:spPr>
          <a:xfrm>
            <a:off x="777240" y="3977640"/>
            <a:ext cx="1005840" cy="329184"/>
          </a:xfrm>
          <a:prstGeom prst="roundRect">
            <a:avLst>
              <a:gd name="adj" fmla="val 16667"/>
            </a:avLst>
          </a:prstGeom>
          <a:solidFill>
            <a:srgbClr val="990000"/>
          </a:solidFill>
          <a:ln w="12700">
            <a:solidFill>
              <a:srgbClr val="990000"/>
            </a:solidFill>
            <a:prstDash val="solid"/>
          </a:ln>
        </p:spPr>
      </p:sp>
      <p:sp>
        <p:nvSpPr>
          <p:cNvPr id="11" name="Text 8"/>
          <p:cNvSpPr/>
          <p:nvPr/>
        </p:nvSpPr>
        <p:spPr>
          <a:xfrm>
            <a:off x="886968" y="4059936"/>
            <a:ext cx="786384" cy="12801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GPA</a:t>
            </a:r>
            <a:endParaRPr lang="en-US" sz="800" dirty="0"/>
          </a:p>
        </p:txBody>
      </p:sp>
      <p:sp>
        <p:nvSpPr>
          <p:cNvPr id="12" name="Shape 9"/>
          <p:cNvSpPr/>
          <p:nvPr/>
        </p:nvSpPr>
        <p:spPr>
          <a:xfrm>
            <a:off x="1920240" y="3977640"/>
            <a:ext cx="1600200" cy="329184"/>
          </a:xfrm>
          <a:prstGeom prst="roundRect">
            <a:avLst>
              <a:gd name="adj" fmla="val 16667"/>
            </a:avLst>
          </a:prstGeom>
          <a:solidFill>
            <a:srgbClr val="0EA5E9"/>
          </a:solidFill>
          <a:ln w="12700">
            <a:solidFill>
              <a:srgbClr val="0EA5E9"/>
            </a:solidFill>
            <a:prstDash val="solid"/>
          </a:ln>
        </p:spPr>
      </p:sp>
      <p:sp>
        <p:nvSpPr>
          <p:cNvPr id="13" name="Text 10"/>
          <p:cNvSpPr/>
          <p:nvPr/>
        </p:nvSpPr>
        <p:spPr>
          <a:xfrm>
            <a:off x="2029968" y="4059936"/>
            <a:ext cx="1380744" cy="12801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Th?i kh?a bi?u</a:t>
            </a:r>
            <a:endParaRPr lang="en-US" sz="800" dirty="0"/>
          </a:p>
        </p:txBody>
      </p:sp>
      <p:sp>
        <p:nvSpPr>
          <p:cNvPr id="14" name="Shape 11"/>
          <p:cNvSpPr/>
          <p:nvPr/>
        </p:nvSpPr>
        <p:spPr>
          <a:xfrm>
            <a:off x="3657600" y="3977640"/>
            <a:ext cx="1508760" cy="329184"/>
          </a:xfrm>
          <a:prstGeom prst="roundRect">
            <a:avLst>
              <a:gd name="adj" fmla="val 16667"/>
            </a:avLst>
          </a:prstGeom>
          <a:solidFill>
            <a:srgbClr val="10B981"/>
          </a:solidFill>
          <a:ln w="12700">
            <a:solidFill>
              <a:srgbClr val="10B981"/>
            </a:solidFill>
            <a:prstDash val="solid"/>
          </a:ln>
        </p:spPr>
      </p:sp>
      <p:sp>
        <p:nvSpPr>
          <p:cNvPr id="15" name="Text 12"/>
          <p:cNvSpPr/>
          <p:nvPr/>
        </p:nvSpPr>
        <p:spPr>
          <a:xfrm>
            <a:off x="3767328" y="4059936"/>
            <a:ext cx="1289304" cy="12801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S? ki?n ?RL</a:t>
            </a:r>
            <a:endParaRPr lang="en-US" sz="800" dirty="0"/>
          </a:p>
        </p:txBody>
      </p:sp>
      <p:sp>
        <p:nvSpPr>
          <p:cNvPr id="16" name="Shape 13"/>
          <p:cNvSpPr/>
          <p:nvPr/>
        </p:nvSpPr>
        <p:spPr>
          <a:xfrm>
            <a:off x="5303520" y="3977640"/>
            <a:ext cx="1325880" cy="329184"/>
          </a:xfrm>
          <a:prstGeom prst="roundRect">
            <a:avLst>
              <a:gd name="adj" fmla="val 16667"/>
            </a:avLst>
          </a:prstGeom>
          <a:solidFill>
            <a:srgbClr val="F59E0B"/>
          </a:solidFill>
          <a:ln w="12700">
            <a:solidFill>
              <a:srgbClr val="F59E0B"/>
            </a:solidFill>
            <a:prstDash val="solid"/>
          </a:ln>
        </p:spPr>
      </p:sp>
      <p:sp>
        <p:nvSpPr>
          <p:cNvPr id="17" name="Text 14"/>
          <p:cNvSpPr/>
          <p:nvPr/>
        </p:nvSpPr>
        <p:spPr>
          <a:xfrm>
            <a:off x="5413248" y="4059936"/>
            <a:ext cx="1106424" cy="12801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AI Advisor</a:t>
            </a:r>
            <a:endParaRPr lang="en-US" sz="800" dirty="0"/>
          </a:p>
        </p:txBody>
      </p:sp>
      <p:sp>
        <p:nvSpPr>
          <p:cNvPr id="18" name="Text 15"/>
          <p:cNvSpPr/>
          <p:nvPr/>
        </p:nvSpPr>
        <p:spPr>
          <a:xfrm>
            <a:off x="777240" y="5760720"/>
            <a:ext cx="3840480" cy="228600"/>
          </a:xfrm>
          <a:prstGeom prst="rect">
            <a:avLst/>
          </a:prstGeom>
          <a:noFill/>
          <a:ln/>
        </p:spPr>
        <p:txBody>
          <a:bodyPr wrap="square" lIns="0" tIns="0" rIns="0" bIns="0" rtlCol="0" anchor="ctr"/>
          <a:lstStyle/>
          <a:p>
            <a:pPr indent="0" marL="0">
              <a:buNone/>
            </a:pPr>
            <a:r>
              <a:rPr lang="en-US" sz="1100" dirty="0">
                <a:solidFill>
                  <a:srgbClr val="BCD7FF"/>
                </a:solidFill>
              </a:rPr>
              <a:t>B?i thuy?t tr?nh gi?i thi?u s?n ph?m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B?i c?nh &amp; m?c ??ch</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HUB Planner gi?i quy?t c?c nhu c?u r?i r?c c?a sinh vi?n trong m?t tr?i nghi?m th?ng nh?t.</a:t>
            </a:r>
            <a:endParaRPr lang="en-US" sz="1150" dirty="0"/>
          </a:p>
        </p:txBody>
      </p:sp>
      <p:sp>
        <p:nvSpPr>
          <p:cNvPr id="6" name="Shape 3"/>
          <p:cNvSpPr/>
          <p:nvPr/>
        </p:nvSpPr>
        <p:spPr>
          <a:xfrm>
            <a:off x="640080" y="1874520"/>
            <a:ext cx="3383280" cy="2377440"/>
          </a:xfrm>
          <a:prstGeom prst="roundRect">
            <a:avLst>
              <a:gd name="adj" fmla="val 307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7" name="Shape 4"/>
          <p:cNvSpPr/>
          <p:nvPr/>
        </p:nvSpPr>
        <p:spPr>
          <a:xfrm>
            <a:off x="640080" y="1874520"/>
            <a:ext cx="73152" cy="2377440"/>
          </a:xfrm>
          <a:prstGeom prst="rect">
            <a:avLst/>
          </a:prstGeom>
          <a:solidFill>
            <a:srgbClr val="990000"/>
          </a:solidFill>
          <a:ln w="12700">
            <a:solidFill>
              <a:srgbClr val="990000"/>
            </a:solidFill>
            <a:prstDash val="solid"/>
          </a:ln>
        </p:spPr>
      </p:sp>
      <p:sp>
        <p:nvSpPr>
          <p:cNvPr id="8" name="Text 5"/>
          <p:cNvSpPr/>
          <p:nvPr/>
        </p:nvSpPr>
        <p:spPr>
          <a:xfrm>
            <a:off x="896112" y="2075688"/>
            <a:ext cx="292608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V?n ?? c?a sinh vi?n</a:t>
            </a:r>
            <a:endParaRPr lang="en-US" sz="1300" dirty="0"/>
          </a:p>
        </p:txBody>
      </p:sp>
      <p:sp>
        <p:nvSpPr>
          <p:cNvPr id="9" name="Text 6"/>
          <p:cNvSpPr/>
          <p:nvPr/>
        </p:nvSpPr>
        <p:spPr>
          <a:xfrm>
            <a:off x="896112" y="2441448"/>
            <a:ext cx="2926080" cy="166420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D? li?u ?i?m, l?ch h?c, l?ch thi, ho?t ??ng ?RL v? th?ng b?o th??ng n?m r?i r?c ? nhi?u n?i, kh? theo d?i li?n t?c.</a:t>
            </a:r>
            <a:endParaRPr lang="en-US" sz="960" dirty="0"/>
          </a:p>
        </p:txBody>
      </p:sp>
      <p:sp>
        <p:nvSpPr>
          <p:cNvPr id="10" name="Shape 7"/>
          <p:cNvSpPr/>
          <p:nvPr/>
        </p:nvSpPr>
        <p:spPr>
          <a:xfrm>
            <a:off x="4389120" y="1874520"/>
            <a:ext cx="3383280" cy="2377440"/>
          </a:xfrm>
          <a:prstGeom prst="roundRect">
            <a:avLst>
              <a:gd name="adj" fmla="val 307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1" name="Shape 8"/>
          <p:cNvSpPr/>
          <p:nvPr/>
        </p:nvSpPr>
        <p:spPr>
          <a:xfrm>
            <a:off x="4389120" y="1874520"/>
            <a:ext cx="73152" cy="2377440"/>
          </a:xfrm>
          <a:prstGeom prst="rect">
            <a:avLst/>
          </a:prstGeom>
          <a:solidFill>
            <a:srgbClr val="003375"/>
          </a:solidFill>
          <a:ln w="12700">
            <a:solidFill>
              <a:srgbClr val="003375"/>
            </a:solidFill>
            <a:prstDash val="solid"/>
          </a:ln>
        </p:spPr>
      </p:sp>
      <p:sp>
        <p:nvSpPr>
          <p:cNvPr id="12" name="Text 9"/>
          <p:cNvSpPr/>
          <p:nvPr/>
        </p:nvSpPr>
        <p:spPr>
          <a:xfrm>
            <a:off x="4645152" y="2075688"/>
            <a:ext cx="292608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M?c ti?u s?n ph?m</a:t>
            </a:r>
            <a:endParaRPr lang="en-US" sz="1300" dirty="0"/>
          </a:p>
        </p:txBody>
      </p:sp>
      <p:sp>
        <p:nvSpPr>
          <p:cNvPr id="13" name="Text 10"/>
          <p:cNvSpPr/>
          <p:nvPr/>
        </p:nvSpPr>
        <p:spPr>
          <a:xfrm>
            <a:off x="4645152" y="2441448"/>
            <a:ext cx="2926080" cy="166420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T?o m?t dashboard c? nh?n gi?p sinh vi?n t? qu?n l? ti?n ?? h?c t?p, l?ch c? nh?n v? c?c ho?t ??ng tr??ng l?p.</a:t>
            </a:r>
            <a:endParaRPr lang="en-US" sz="960" dirty="0"/>
          </a:p>
        </p:txBody>
      </p:sp>
      <p:sp>
        <p:nvSpPr>
          <p:cNvPr id="14" name="Shape 11"/>
          <p:cNvSpPr/>
          <p:nvPr/>
        </p:nvSpPr>
        <p:spPr>
          <a:xfrm>
            <a:off x="8138160" y="1874520"/>
            <a:ext cx="3383280" cy="2377440"/>
          </a:xfrm>
          <a:prstGeom prst="roundRect">
            <a:avLst>
              <a:gd name="adj" fmla="val 307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5" name="Shape 12"/>
          <p:cNvSpPr/>
          <p:nvPr/>
        </p:nvSpPr>
        <p:spPr>
          <a:xfrm>
            <a:off x="8138160" y="1874520"/>
            <a:ext cx="73152" cy="2377440"/>
          </a:xfrm>
          <a:prstGeom prst="rect">
            <a:avLst/>
          </a:prstGeom>
          <a:solidFill>
            <a:srgbClr val="10B981"/>
          </a:solidFill>
          <a:ln w="12700">
            <a:solidFill>
              <a:srgbClr val="10B981"/>
            </a:solidFill>
            <a:prstDash val="solid"/>
          </a:ln>
        </p:spPr>
      </p:sp>
      <p:sp>
        <p:nvSpPr>
          <p:cNvPr id="16" name="Text 13"/>
          <p:cNvSpPr/>
          <p:nvPr/>
        </p:nvSpPr>
        <p:spPr>
          <a:xfrm>
            <a:off x="8394192" y="2075688"/>
            <a:ext cx="292608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Gi? tr? mang l?i</a:t>
            </a:r>
            <a:endParaRPr lang="en-US" sz="1300" dirty="0"/>
          </a:p>
        </p:txBody>
      </p:sp>
      <p:sp>
        <p:nvSpPr>
          <p:cNvPr id="17" name="Text 14"/>
          <p:cNvSpPr/>
          <p:nvPr/>
        </p:nvSpPr>
        <p:spPr>
          <a:xfrm>
            <a:off x="8394192" y="2441448"/>
            <a:ext cx="2926080" cy="166420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Gi?m thao t?c th? c?ng, t?ng kh? n?ng ch? ??ng, h? tr? ra quy?t ??nh h?c t?p d?a tr?n d? li?u.</a:t>
            </a:r>
            <a:endParaRPr lang="en-US" sz="960" dirty="0"/>
          </a:p>
        </p:txBody>
      </p:sp>
      <p:sp>
        <p:nvSpPr>
          <p:cNvPr id="18" name="Text 15"/>
          <p:cNvSpPr/>
          <p:nvPr/>
        </p:nvSpPr>
        <p:spPr>
          <a:xfrm>
            <a:off x="685800" y="4983480"/>
            <a:ext cx="10698480" cy="320040"/>
          </a:xfrm>
          <a:prstGeom prst="rect">
            <a:avLst/>
          </a:prstGeom>
          <a:noFill/>
          <a:ln/>
        </p:spPr>
        <p:txBody>
          <a:bodyPr wrap="square" lIns="0" tIns="0" rIns="0" bIns="0" rtlCol="0" anchor="ctr">
            <a:normAutofit/>
          </a:bodyPr>
          <a:lstStyle/>
          <a:p>
            <a:pPr algn="ctr" indent="0" marL="0">
              <a:buNone/>
            </a:pPr>
            <a:r>
              <a:rPr lang="en-US" sz="1800" b="1" dirty="0">
                <a:solidFill>
                  <a:srgbClr val="003375"/>
                </a:solidFill>
              </a:rPr>
              <a:t>??nh v?: ?personal student operating system? cho sinh vi?n HUB.</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??i t??ng s? d?ng</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Website c? tr?i nghi?m cho sinh vi?n, qu?n tr? vi?n v? ki?m duy?t vi?n.</a:t>
            </a:r>
            <a:endParaRPr lang="en-US" sz="1150" dirty="0"/>
          </a:p>
        </p:txBody>
      </p:sp>
      <p:sp>
        <p:nvSpPr>
          <p:cNvPr id="6" name="Shape 3"/>
          <p:cNvSpPr/>
          <p:nvPr/>
        </p:nvSpPr>
        <p:spPr>
          <a:xfrm>
            <a:off x="685800" y="1828800"/>
            <a:ext cx="3246120" cy="2926080"/>
          </a:xfrm>
          <a:prstGeom prst="roundRect">
            <a:avLst>
              <a:gd name="adj" fmla="val 2500"/>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7" name="Shape 4"/>
          <p:cNvSpPr/>
          <p:nvPr/>
        </p:nvSpPr>
        <p:spPr>
          <a:xfrm>
            <a:off x="685800" y="1828800"/>
            <a:ext cx="73152" cy="2926080"/>
          </a:xfrm>
          <a:prstGeom prst="rect">
            <a:avLst/>
          </a:prstGeom>
          <a:solidFill>
            <a:srgbClr val="003375"/>
          </a:solidFill>
          <a:ln w="12700">
            <a:solidFill>
              <a:srgbClr val="003375"/>
            </a:solidFill>
            <a:prstDash val="solid"/>
          </a:ln>
        </p:spPr>
      </p:sp>
      <p:sp>
        <p:nvSpPr>
          <p:cNvPr id="8" name="Text 5"/>
          <p:cNvSpPr/>
          <p:nvPr/>
        </p:nvSpPr>
        <p:spPr>
          <a:xfrm>
            <a:off x="941832" y="2029968"/>
            <a:ext cx="278892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Sinh vi?n</a:t>
            </a:r>
            <a:endParaRPr lang="en-US" sz="1300" dirty="0"/>
          </a:p>
        </p:txBody>
      </p:sp>
      <p:sp>
        <p:nvSpPr>
          <p:cNvPr id="9" name="Text 6"/>
          <p:cNvSpPr/>
          <p:nvPr/>
        </p:nvSpPr>
        <p:spPr>
          <a:xfrm>
            <a:off x="941832" y="2395728"/>
            <a:ext cx="2788920" cy="221284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 Theo d?i GPA v? t?n ch?</a:t>
            </a:r>
            <a:endParaRPr lang="en-US" sz="960" dirty="0"/>
          </a:p>
          <a:p>
            <a:pPr indent="0" marL="0">
              <a:buNone/>
            </a:pPr>
            <a:r>
              <a:rPr lang="en-US" sz="960" dirty="0">
                <a:solidFill>
                  <a:srgbClr val="475569"/>
                </a:solidFill>
              </a:rPr>
              <a:t>? Qu?n l? th?i kh?a bi?u</a:t>
            </a:r>
            <a:endParaRPr lang="en-US" sz="960" dirty="0"/>
          </a:p>
          <a:p>
            <a:pPr indent="0" marL="0">
              <a:buNone/>
            </a:pPr>
            <a:r>
              <a:rPr lang="en-US" sz="960" dirty="0">
                <a:solidFill>
                  <a:srgbClr val="475569"/>
                </a:solidFill>
              </a:rPr>
              <a:t>? Tham gia s? ki?n ?RL</a:t>
            </a:r>
            <a:endParaRPr lang="en-US" sz="960" dirty="0"/>
          </a:p>
          <a:p>
            <a:pPr indent="0" marL="0">
              <a:buNone/>
            </a:pPr>
            <a:r>
              <a:rPr lang="en-US" sz="960" dirty="0">
                <a:solidFill>
                  <a:srgbClr val="475569"/>
                </a:solidFill>
              </a:rPr>
              <a:t>? T?m ho?c ??ng ?? th?t l?c</a:t>
            </a:r>
            <a:endParaRPr lang="en-US" sz="960" dirty="0"/>
          </a:p>
          <a:p>
            <a:pPr indent="0" marL="0">
              <a:buNone/>
            </a:pPr>
            <a:r>
              <a:rPr lang="en-US" sz="960" dirty="0">
                <a:solidFill>
                  <a:srgbClr val="475569"/>
                </a:solidFill>
              </a:rPr>
              <a:t>? H?i tr? l? AI h?c t?p</a:t>
            </a:r>
            <a:endParaRPr lang="en-US" sz="960" dirty="0"/>
          </a:p>
        </p:txBody>
      </p:sp>
      <p:sp>
        <p:nvSpPr>
          <p:cNvPr id="10" name="Shape 7"/>
          <p:cNvSpPr/>
          <p:nvPr/>
        </p:nvSpPr>
        <p:spPr>
          <a:xfrm>
            <a:off x="4480560" y="1828800"/>
            <a:ext cx="3246120" cy="2926080"/>
          </a:xfrm>
          <a:prstGeom prst="roundRect">
            <a:avLst>
              <a:gd name="adj" fmla="val 2500"/>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1" name="Shape 8"/>
          <p:cNvSpPr/>
          <p:nvPr/>
        </p:nvSpPr>
        <p:spPr>
          <a:xfrm>
            <a:off x="4480560" y="1828800"/>
            <a:ext cx="73152" cy="2926080"/>
          </a:xfrm>
          <a:prstGeom prst="rect">
            <a:avLst/>
          </a:prstGeom>
          <a:solidFill>
            <a:srgbClr val="990000"/>
          </a:solidFill>
          <a:ln w="12700">
            <a:solidFill>
              <a:srgbClr val="990000"/>
            </a:solidFill>
            <a:prstDash val="solid"/>
          </a:ln>
        </p:spPr>
      </p:sp>
      <p:sp>
        <p:nvSpPr>
          <p:cNvPr id="12" name="Text 9"/>
          <p:cNvSpPr/>
          <p:nvPr/>
        </p:nvSpPr>
        <p:spPr>
          <a:xfrm>
            <a:off x="4736592" y="2029968"/>
            <a:ext cx="278892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Qu?n tr? vi?n</a:t>
            </a:r>
            <a:endParaRPr lang="en-US" sz="1300" dirty="0"/>
          </a:p>
        </p:txBody>
      </p:sp>
      <p:sp>
        <p:nvSpPr>
          <p:cNvPr id="13" name="Text 10"/>
          <p:cNvSpPr/>
          <p:nvPr/>
        </p:nvSpPr>
        <p:spPr>
          <a:xfrm>
            <a:off x="4736592" y="2395728"/>
            <a:ext cx="2788920" cy="221284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 Qu?n l? d? li?u sinh vi?n</a:t>
            </a:r>
            <a:endParaRPr lang="en-US" sz="960" dirty="0"/>
          </a:p>
          <a:p>
            <a:pPr indent="0" marL="0">
              <a:buNone/>
            </a:pPr>
            <a:r>
              <a:rPr lang="en-US" sz="960" dirty="0">
                <a:solidFill>
                  <a:srgbClr val="475569"/>
                </a:solidFill>
              </a:rPr>
              <a:t>? X? l? b?o c?o m?n h?c</a:t>
            </a:r>
            <a:endParaRPr lang="en-US" sz="960" dirty="0"/>
          </a:p>
          <a:p>
            <a:pPr indent="0" marL="0">
              <a:buNone/>
            </a:pPr>
            <a:r>
              <a:rPr lang="en-US" sz="960" dirty="0">
                <a:solidFill>
                  <a:srgbClr val="475569"/>
                </a:solidFill>
              </a:rPr>
              <a:t>? Qu?n l? s? ki?n, th?ng b?o</a:t>
            </a:r>
            <a:endParaRPr lang="en-US" sz="960" dirty="0"/>
          </a:p>
          <a:p>
            <a:pPr indent="0" marL="0">
              <a:buNone/>
            </a:pPr>
            <a:r>
              <a:rPr lang="en-US" sz="960" dirty="0">
                <a:solidFill>
                  <a:srgbClr val="475569"/>
                </a:solidFill>
              </a:rPr>
              <a:t>? Theo d?i d? li?u to?n tr??ng</a:t>
            </a:r>
            <a:endParaRPr lang="en-US" sz="960" dirty="0"/>
          </a:p>
        </p:txBody>
      </p:sp>
      <p:sp>
        <p:nvSpPr>
          <p:cNvPr id="14" name="Shape 11"/>
          <p:cNvSpPr/>
          <p:nvPr/>
        </p:nvSpPr>
        <p:spPr>
          <a:xfrm>
            <a:off x="8275320" y="1828800"/>
            <a:ext cx="3246120" cy="2926080"/>
          </a:xfrm>
          <a:prstGeom prst="roundRect">
            <a:avLst>
              <a:gd name="adj" fmla="val 2500"/>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5" name="Shape 12"/>
          <p:cNvSpPr/>
          <p:nvPr/>
        </p:nvSpPr>
        <p:spPr>
          <a:xfrm>
            <a:off x="8275320" y="1828800"/>
            <a:ext cx="73152" cy="2926080"/>
          </a:xfrm>
          <a:prstGeom prst="rect">
            <a:avLst/>
          </a:prstGeom>
          <a:solidFill>
            <a:srgbClr val="7C3AED"/>
          </a:solidFill>
          <a:ln w="12700">
            <a:solidFill>
              <a:srgbClr val="7C3AED"/>
            </a:solidFill>
            <a:prstDash val="solid"/>
          </a:ln>
        </p:spPr>
      </p:sp>
      <p:sp>
        <p:nvSpPr>
          <p:cNvPr id="16" name="Text 13"/>
          <p:cNvSpPr/>
          <p:nvPr/>
        </p:nvSpPr>
        <p:spPr>
          <a:xfrm>
            <a:off x="8531352" y="2029968"/>
            <a:ext cx="278892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Ki?m duy?t vi?n</a:t>
            </a:r>
            <a:endParaRPr lang="en-US" sz="1300" dirty="0"/>
          </a:p>
        </p:txBody>
      </p:sp>
      <p:sp>
        <p:nvSpPr>
          <p:cNvPr id="17" name="Text 14"/>
          <p:cNvSpPr/>
          <p:nvPr/>
        </p:nvSpPr>
        <p:spPr>
          <a:xfrm>
            <a:off x="8531352" y="2395728"/>
            <a:ext cx="2788920" cy="221284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 Xem d? li?u h? tr?</a:t>
            </a:r>
            <a:endParaRPr lang="en-US" sz="960" dirty="0"/>
          </a:p>
          <a:p>
            <a:pPr indent="0" marL="0">
              <a:buNone/>
            </a:pPr>
            <a:r>
              <a:rPr lang="en-US" sz="960" dirty="0">
                <a:solidFill>
                  <a:srgbClr val="475569"/>
                </a:solidFill>
              </a:rPr>
              <a:t>? Ki?m tra b?o c?o</a:t>
            </a:r>
            <a:endParaRPr lang="en-US" sz="960" dirty="0"/>
          </a:p>
          <a:p>
            <a:pPr indent="0" marL="0">
              <a:buNone/>
            </a:pPr>
            <a:r>
              <a:rPr lang="en-US" sz="960" dirty="0">
                <a:solidFill>
                  <a:srgbClr val="475569"/>
                </a:solidFill>
              </a:rPr>
              <a:t>? H? tr? c?ng ??ng</a:t>
            </a:r>
            <a:endParaRPr lang="en-US" sz="960" dirty="0"/>
          </a:p>
          <a:p>
            <a:pPr indent="0" marL="0">
              <a:buNone/>
            </a:pPr>
            <a:r>
              <a:rPr lang="en-US" sz="960" dirty="0">
                <a:solidFill>
                  <a:srgbClr val="475569"/>
                </a:solidFill>
              </a:rPr>
              <a:t>? Gi?m r?i ro n?i dung sai l?ch</a:t>
            </a:r>
            <a:endParaRPr lang="en-US" sz="960" dirty="0"/>
          </a:p>
        </p:txBody>
      </p:sp>
      <p:sp>
        <p:nvSpPr>
          <p:cNvPr id="18" name="Text 15"/>
          <p:cNvSpPr/>
          <p:nvPr/>
        </p:nvSpPr>
        <p:spPr>
          <a:xfrm>
            <a:off x="731520" y="5257800"/>
            <a:ext cx="10698480" cy="320040"/>
          </a:xfrm>
          <a:prstGeom prst="rect">
            <a:avLst/>
          </a:prstGeom>
          <a:noFill/>
          <a:ln/>
        </p:spPr>
        <p:txBody>
          <a:bodyPr wrap="square" lIns="0" tIns="0" rIns="0" bIns="0" rtlCol="0" anchor="ctr">
            <a:normAutofit/>
          </a:bodyPr>
          <a:lstStyle/>
          <a:p>
            <a:pPr algn="ctr" indent="0" marL="0">
              <a:buNone/>
            </a:pPr>
            <a:r>
              <a:rPr lang="en-US" sz="1400" dirty="0">
                <a:solidFill>
                  <a:srgbClr val="475569"/>
                </a:solidFill>
              </a:rPr>
              <a:t>Lu?ng v?o app: ??ng nh?p / d?ng th? ? onboarding th?ng tin h?c t?p ? s? d?ng c?c module theo nhu c?u.</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Module H?c t?p: GPA &amp; l? tr?nh</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Tr?ng t?m c?a HUB Planner l? gi?p sinh vi?n hi?u t?nh tr?ng h?c t?p hi?n t?i.</a:t>
            </a:r>
            <a:endParaRPr lang="en-US" sz="1150" dirty="0"/>
          </a:p>
        </p:txBody>
      </p:sp>
      <p:sp>
        <p:nvSpPr>
          <p:cNvPr id="6" name="Shape 3"/>
          <p:cNvSpPr/>
          <p:nvPr/>
        </p:nvSpPr>
        <p:spPr>
          <a:xfrm>
            <a:off x="777240" y="1874520"/>
            <a:ext cx="2148840" cy="960120"/>
          </a:xfrm>
          <a:prstGeom prst="roundRect">
            <a:avLst>
              <a:gd name="adj" fmla="val 7619"/>
            </a:avLst>
          </a:prstGeom>
          <a:solidFill>
            <a:srgbClr val="FFFFFF"/>
          </a:solidFill>
          <a:ln w="12700">
            <a:solidFill>
              <a:srgbClr val="D8E1EE"/>
            </a:solidFill>
            <a:prstDash val="solid"/>
          </a:ln>
          <a:effectLst>
            <a:outerShdw sx="100000" sy="100000" kx="0" ky="0" algn="bl" rotWithShape="0" blurRad="12700" dist="50800" dir="2700000">
              <a:srgbClr val="94A3B8">
                <a:alpha val="12000"/>
              </a:srgbClr>
            </a:outerShdw>
          </a:effectLst>
        </p:spPr>
      </p:sp>
      <p:sp>
        <p:nvSpPr>
          <p:cNvPr id="7" name="Text 4"/>
          <p:cNvSpPr/>
          <p:nvPr/>
        </p:nvSpPr>
        <p:spPr>
          <a:xfrm>
            <a:off x="941832" y="2039112"/>
            <a:ext cx="1828800" cy="320040"/>
          </a:xfrm>
          <a:prstGeom prst="rect">
            <a:avLst/>
          </a:prstGeom>
          <a:noFill/>
          <a:ln/>
        </p:spPr>
        <p:txBody>
          <a:bodyPr wrap="square" lIns="0" tIns="0" rIns="0" bIns="0" rtlCol="0" anchor="ctr">
            <a:normAutofit/>
          </a:bodyPr>
          <a:lstStyle/>
          <a:p>
            <a:pPr indent="0" marL="0">
              <a:buNone/>
            </a:pPr>
            <a:r>
              <a:rPr lang="en-US" sz="2200" b="1" dirty="0">
                <a:solidFill>
                  <a:srgbClr val="003375"/>
                </a:solidFill>
              </a:rPr>
              <a:t>GPA 4.0</a:t>
            </a:r>
            <a:endParaRPr lang="en-US" sz="2200" dirty="0"/>
          </a:p>
        </p:txBody>
      </p:sp>
      <p:sp>
        <p:nvSpPr>
          <p:cNvPr id="8" name="Text 5"/>
          <p:cNvSpPr/>
          <p:nvPr/>
        </p:nvSpPr>
        <p:spPr>
          <a:xfrm>
            <a:off x="960120" y="2468880"/>
            <a:ext cx="1783080" cy="182880"/>
          </a:xfrm>
          <a:prstGeom prst="rect">
            <a:avLst/>
          </a:prstGeom>
          <a:noFill/>
          <a:ln/>
        </p:spPr>
        <p:txBody>
          <a:bodyPr wrap="square" lIns="0" tIns="0" rIns="0" bIns="0" rtlCol="0" anchor="ctr">
            <a:normAutofit/>
          </a:bodyPr>
          <a:lstStyle/>
          <a:p>
            <a:pPr indent="0" marL="0">
              <a:buNone/>
            </a:pPr>
            <a:r>
              <a:rPr lang="en-US" sz="860" b="1" dirty="0">
                <a:solidFill>
                  <a:srgbClr val="64748B"/>
                </a:solidFill>
              </a:rPr>
              <a:t>?i?m t?ch l?y h? 4</a:t>
            </a:r>
            <a:endParaRPr lang="en-US" sz="860" dirty="0"/>
          </a:p>
        </p:txBody>
      </p:sp>
      <p:sp>
        <p:nvSpPr>
          <p:cNvPr id="9" name="Shape 6"/>
          <p:cNvSpPr/>
          <p:nvPr/>
        </p:nvSpPr>
        <p:spPr>
          <a:xfrm>
            <a:off x="3246120" y="1874520"/>
            <a:ext cx="2148840" cy="960120"/>
          </a:xfrm>
          <a:prstGeom prst="roundRect">
            <a:avLst>
              <a:gd name="adj" fmla="val 7619"/>
            </a:avLst>
          </a:prstGeom>
          <a:solidFill>
            <a:srgbClr val="FFFFFF"/>
          </a:solidFill>
          <a:ln w="12700">
            <a:solidFill>
              <a:srgbClr val="D8E1EE"/>
            </a:solidFill>
            <a:prstDash val="solid"/>
          </a:ln>
          <a:effectLst>
            <a:outerShdw sx="100000" sy="100000" kx="0" ky="0" algn="bl" rotWithShape="0" blurRad="12700" dist="50800" dir="2700000">
              <a:srgbClr val="94A3B8">
                <a:alpha val="12000"/>
              </a:srgbClr>
            </a:outerShdw>
          </a:effectLst>
        </p:spPr>
      </p:sp>
      <p:sp>
        <p:nvSpPr>
          <p:cNvPr id="10" name="Text 7"/>
          <p:cNvSpPr/>
          <p:nvPr/>
        </p:nvSpPr>
        <p:spPr>
          <a:xfrm>
            <a:off x="3410712" y="2039112"/>
            <a:ext cx="1828800" cy="320040"/>
          </a:xfrm>
          <a:prstGeom prst="rect">
            <a:avLst/>
          </a:prstGeom>
          <a:noFill/>
          <a:ln/>
        </p:spPr>
        <p:txBody>
          <a:bodyPr wrap="square" lIns="0" tIns="0" rIns="0" bIns="0" rtlCol="0" anchor="ctr">
            <a:normAutofit/>
          </a:bodyPr>
          <a:lstStyle/>
          <a:p>
            <a:pPr indent="0" marL="0">
              <a:buNone/>
            </a:pPr>
            <a:r>
              <a:rPr lang="en-US" sz="2200" b="1" dirty="0">
                <a:solidFill>
                  <a:srgbClr val="990000"/>
                </a:solidFill>
              </a:rPr>
              <a:t>GPA 10</a:t>
            </a:r>
            <a:endParaRPr lang="en-US" sz="2200" dirty="0"/>
          </a:p>
        </p:txBody>
      </p:sp>
      <p:sp>
        <p:nvSpPr>
          <p:cNvPr id="11" name="Text 8"/>
          <p:cNvSpPr/>
          <p:nvPr/>
        </p:nvSpPr>
        <p:spPr>
          <a:xfrm>
            <a:off x="3429000" y="2468880"/>
            <a:ext cx="1783080" cy="182880"/>
          </a:xfrm>
          <a:prstGeom prst="rect">
            <a:avLst/>
          </a:prstGeom>
          <a:noFill/>
          <a:ln/>
        </p:spPr>
        <p:txBody>
          <a:bodyPr wrap="square" lIns="0" tIns="0" rIns="0" bIns="0" rtlCol="0" anchor="ctr">
            <a:normAutofit/>
          </a:bodyPr>
          <a:lstStyle/>
          <a:p>
            <a:pPr indent="0" marL="0">
              <a:buNone/>
            </a:pPr>
            <a:r>
              <a:rPr lang="en-US" sz="860" b="1" dirty="0">
                <a:solidFill>
                  <a:srgbClr val="64748B"/>
                </a:solidFill>
              </a:rPr>
              <a:t>?i?m trung b?nh h? 10</a:t>
            </a:r>
            <a:endParaRPr lang="en-US" sz="860" dirty="0"/>
          </a:p>
        </p:txBody>
      </p:sp>
      <p:sp>
        <p:nvSpPr>
          <p:cNvPr id="12" name="Shape 9"/>
          <p:cNvSpPr/>
          <p:nvPr/>
        </p:nvSpPr>
        <p:spPr>
          <a:xfrm>
            <a:off x="5715000" y="1874520"/>
            <a:ext cx="2148840" cy="960120"/>
          </a:xfrm>
          <a:prstGeom prst="roundRect">
            <a:avLst>
              <a:gd name="adj" fmla="val 7619"/>
            </a:avLst>
          </a:prstGeom>
          <a:solidFill>
            <a:srgbClr val="FFFFFF"/>
          </a:solidFill>
          <a:ln w="12700">
            <a:solidFill>
              <a:srgbClr val="D8E1EE"/>
            </a:solidFill>
            <a:prstDash val="solid"/>
          </a:ln>
          <a:effectLst>
            <a:outerShdw sx="100000" sy="100000" kx="0" ky="0" algn="bl" rotWithShape="0" blurRad="12700" dist="50800" dir="2700000">
              <a:srgbClr val="94A3B8">
                <a:alpha val="12000"/>
              </a:srgbClr>
            </a:outerShdw>
          </a:effectLst>
        </p:spPr>
      </p:sp>
      <p:sp>
        <p:nvSpPr>
          <p:cNvPr id="13" name="Text 10"/>
          <p:cNvSpPr/>
          <p:nvPr/>
        </p:nvSpPr>
        <p:spPr>
          <a:xfrm>
            <a:off x="5879592" y="2039112"/>
            <a:ext cx="1828800" cy="320040"/>
          </a:xfrm>
          <a:prstGeom prst="rect">
            <a:avLst/>
          </a:prstGeom>
          <a:noFill/>
          <a:ln/>
        </p:spPr>
        <p:txBody>
          <a:bodyPr wrap="square" lIns="0" tIns="0" rIns="0" bIns="0" rtlCol="0" anchor="ctr">
            <a:normAutofit/>
          </a:bodyPr>
          <a:lstStyle/>
          <a:p>
            <a:pPr indent="0" marL="0">
              <a:buNone/>
            </a:pPr>
            <a:r>
              <a:rPr lang="en-US" sz="2200" b="1" dirty="0">
                <a:solidFill>
                  <a:srgbClr val="10B981"/>
                </a:solidFill>
              </a:rPr>
              <a:t>TC</a:t>
            </a:r>
            <a:endParaRPr lang="en-US" sz="2200" dirty="0"/>
          </a:p>
        </p:txBody>
      </p:sp>
      <p:sp>
        <p:nvSpPr>
          <p:cNvPr id="14" name="Text 11"/>
          <p:cNvSpPr/>
          <p:nvPr/>
        </p:nvSpPr>
        <p:spPr>
          <a:xfrm>
            <a:off x="5897880" y="2468880"/>
            <a:ext cx="1783080" cy="182880"/>
          </a:xfrm>
          <a:prstGeom prst="rect">
            <a:avLst/>
          </a:prstGeom>
          <a:noFill/>
          <a:ln/>
        </p:spPr>
        <p:txBody>
          <a:bodyPr wrap="square" lIns="0" tIns="0" rIns="0" bIns="0" rtlCol="0" anchor="ctr">
            <a:normAutofit/>
          </a:bodyPr>
          <a:lstStyle/>
          <a:p>
            <a:pPr indent="0" marL="0">
              <a:buNone/>
            </a:pPr>
            <a:r>
              <a:rPr lang="en-US" sz="860" b="1" dirty="0">
                <a:solidFill>
                  <a:srgbClr val="64748B"/>
                </a:solidFill>
              </a:rPr>
              <a:t>T?n ch? t?ch l?y</a:t>
            </a:r>
            <a:endParaRPr lang="en-US" sz="860" dirty="0"/>
          </a:p>
        </p:txBody>
      </p:sp>
      <p:sp>
        <p:nvSpPr>
          <p:cNvPr id="15" name="Shape 12"/>
          <p:cNvSpPr/>
          <p:nvPr/>
        </p:nvSpPr>
        <p:spPr>
          <a:xfrm>
            <a:off x="8183880" y="1874520"/>
            <a:ext cx="2148840" cy="960120"/>
          </a:xfrm>
          <a:prstGeom prst="roundRect">
            <a:avLst>
              <a:gd name="adj" fmla="val 7619"/>
            </a:avLst>
          </a:prstGeom>
          <a:solidFill>
            <a:srgbClr val="FFFFFF"/>
          </a:solidFill>
          <a:ln w="12700">
            <a:solidFill>
              <a:srgbClr val="D8E1EE"/>
            </a:solidFill>
            <a:prstDash val="solid"/>
          </a:ln>
          <a:effectLst>
            <a:outerShdw sx="100000" sy="100000" kx="0" ky="0" algn="bl" rotWithShape="0" blurRad="12700" dist="50800" dir="2700000">
              <a:srgbClr val="94A3B8">
                <a:alpha val="12000"/>
              </a:srgbClr>
            </a:outerShdw>
          </a:effectLst>
        </p:spPr>
      </p:sp>
      <p:sp>
        <p:nvSpPr>
          <p:cNvPr id="16" name="Text 13"/>
          <p:cNvSpPr/>
          <p:nvPr/>
        </p:nvSpPr>
        <p:spPr>
          <a:xfrm>
            <a:off x="8348472" y="2039112"/>
            <a:ext cx="1828800" cy="320040"/>
          </a:xfrm>
          <a:prstGeom prst="rect">
            <a:avLst/>
          </a:prstGeom>
          <a:noFill/>
          <a:ln/>
        </p:spPr>
        <p:txBody>
          <a:bodyPr wrap="square" lIns="0" tIns="0" rIns="0" bIns="0" rtlCol="0" anchor="ctr">
            <a:normAutofit/>
          </a:bodyPr>
          <a:lstStyle/>
          <a:p>
            <a:pPr indent="0" marL="0">
              <a:buNone/>
            </a:pPr>
            <a:r>
              <a:rPr lang="en-US" sz="2200" b="1" dirty="0">
                <a:solidFill>
                  <a:srgbClr val="F59E0B"/>
                </a:solidFill>
              </a:rPr>
              <a:t>?RL</a:t>
            </a:r>
            <a:endParaRPr lang="en-US" sz="2200" dirty="0"/>
          </a:p>
        </p:txBody>
      </p:sp>
      <p:sp>
        <p:nvSpPr>
          <p:cNvPr id="17" name="Text 14"/>
          <p:cNvSpPr/>
          <p:nvPr/>
        </p:nvSpPr>
        <p:spPr>
          <a:xfrm>
            <a:off x="8366760" y="2468880"/>
            <a:ext cx="1783080" cy="182880"/>
          </a:xfrm>
          <a:prstGeom prst="rect">
            <a:avLst/>
          </a:prstGeom>
          <a:noFill/>
          <a:ln/>
        </p:spPr>
        <p:txBody>
          <a:bodyPr wrap="square" lIns="0" tIns="0" rIns="0" bIns="0" rtlCol="0" anchor="ctr">
            <a:normAutofit/>
          </a:bodyPr>
          <a:lstStyle/>
          <a:p>
            <a:pPr indent="0" marL="0">
              <a:buNone/>
            </a:pPr>
            <a:r>
              <a:rPr lang="en-US" sz="860" b="1" dirty="0">
                <a:solidFill>
                  <a:srgbClr val="64748B"/>
                </a:solidFill>
              </a:rPr>
              <a:t>?i?m r?n luy?n t?ng k?</a:t>
            </a:r>
            <a:endParaRPr lang="en-US" sz="860" dirty="0"/>
          </a:p>
        </p:txBody>
      </p:sp>
      <p:sp>
        <p:nvSpPr>
          <p:cNvPr id="18" name="Text 15"/>
          <p:cNvSpPr/>
          <p:nvPr/>
        </p:nvSpPr>
        <p:spPr>
          <a:xfrm>
            <a:off x="960120" y="3337560"/>
            <a:ext cx="10058400" cy="1508760"/>
          </a:xfrm>
          <a:prstGeom prst="rect">
            <a:avLst/>
          </a:prstGeom>
          <a:noFill/>
          <a:ln/>
        </p:spPr>
        <p:txBody>
          <a:bodyPr wrap="square" lIns="254" tIns="254" rIns="254" bIns="254" rtlCol="0" anchor="t">
            <a:normAutofit/>
          </a:bodyPr>
          <a:lstStyle/>
          <a:p>
            <a:r>
              <a:rPr lang="en-US" sz="1400" dirty="0">
                <a:solidFill>
                  <a:srgbClr val="0F172A"/>
                </a:solidFill>
              </a:rPr>
              <a:t>T?nh GPA, t?n ch? ??t, m?n ch?a ??t v? ph?n lo?i h?c l?c.</a:t>
            </a:r>
            <a:endParaRPr lang="en-US" sz="1400" dirty="0"/>
          </a:p>
          <a:p>
            <a:r>
              <a:rPr lang="en-US" sz="1400" dirty="0">
                <a:solidFill>
                  <a:srgbClr val="0F172A"/>
                </a:solidFill>
              </a:rPr>
              <a:t>Theo d?i xu h??ng h?c t?p theo t?ng h?c k? b?ng bi?u ??.</a:t>
            </a:r>
            <a:endParaRPr lang="en-US" sz="1400" dirty="0"/>
          </a:p>
          <a:p>
            <a:r>
              <a:rPr lang="en-US" sz="1400" dirty="0">
                <a:solidFill>
                  <a:srgbClr val="0F172A"/>
                </a:solidFill>
              </a:rPr>
              <a:t>??t m?c ti?u GPA v? ??c l??ng ?i?m c?n ??t cho ph?n c?n l?i.</a:t>
            </a:r>
            <a:endParaRPr lang="en-US" sz="1400" dirty="0"/>
          </a:p>
          <a:p>
            <a:r>
              <a:rPr lang="en-US" sz="1400" dirty="0">
                <a:solidFill>
                  <a:srgbClr val="0F172A"/>
                </a:solidFill>
              </a:rPr>
              <a:t>Xem x?p h?ng/d? b?o theo h?c k? khi c? d? li?u ph? h?p.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Nh?p li?u &amp; qu?n l? b?ng ?i?m</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Sinh vi?n c? th? nh?p th? c?ng ho?c d?ng PDF ?? gi?m thao t?c.</a:t>
            </a:r>
            <a:endParaRPr lang="en-US" sz="1150" dirty="0"/>
          </a:p>
        </p:txBody>
      </p:sp>
      <p:sp>
        <p:nvSpPr>
          <p:cNvPr id="6" name="Shape 3"/>
          <p:cNvSpPr/>
          <p:nvPr/>
        </p:nvSpPr>
        <p:spPr>
          <a:xfrm>
            <a:off x="731520" y="1828800"/>
            <a:ext cx="3108960" cy="2606040"/>
          </a:xfrm>
          <a:prstGeom prst="roundRect">
            <a:avLst>
              <a:gd name="adj" fmla="val 280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7" name="Shape 4"/>
          <p:cNvSpPr/>
          <p:nvPr/>
        </p:nvSpPr>
        <p:spPr>
          <a:xfrm>
            <a:off x="731520" y="1828800"/>
            <a:ext cx="73152" cy="2606040"/>
          </a:xfrm>
          <a:prstGeom prst="rect">
            <a:avLst/>
          </a:prstGeom>
          <a:solidFill>
            <a:srgbClr val="003375"/>
          </a:solidFill>
          <a:ln w="12700">
            <a:solidFill>
              <a:srgbClr val="003375"/>
            </a:solidFill>
            <a:prstDash val="solid"/>
          </a:ln>
        </p:spPr>
      </p:sp>
      <p:sp>
        <p:nvSpPr>
          <p:cNvPr id="8" name="Text 5"/>
          <p:cNvSpPr/>
          <p:nvPr/>
        </p:nvSpPr>
        <p:spPr>
          <a:xfrm>
            <a:off x="987552" y="2029968"/>
            <a:ext cx="265176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Nh?p th? c?ng</a:t>
            </a:r>
            <a:endParaRPr lang="en-US" sz="1300" dirty="0"/>
          </a:p>
        </p:txBody>
      </p:sp>
      <p:sp>
        <p:nvSpPr>
          <p:cNvPr id="9" name="Text 6"/>
          <p:cNvSpPr/>
          <p:nvPr/>
        </p:nvSpPr>
        <p:spPr>
          <a:xfrm>
            <a:off x="987552" y="2395728"/>
            <a:ext cx="2651760" cy="189280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Th?m h?c k?, m?n h?c, t?n ch? v? c?c c?t ?i?m th?nh ph?n nh? chuy?n c?n, qu? tr?nh, gi?a k?, cu?i k?.</a:t>
            </a:r>
            <a:endParaRPr lang="en-US" sz="960" dirty="0"/>
          </a:p>
        </p:txBody>
      </p:sp>
      <p:sp>
        <p:nvSpPr>
          <p:cNvPr id="10" name="Shape 7"/>
          <p:cNvSpPr/>
          <p:nvPr/>
        </p:nvSpPr>
        <p:spPr>
          <a:xfrm>
            <a:off x="4526280" y="1828800"/>
            <a:ext cx="3108960" cy="2606040"/>
          </a:xfrm>
          <a:prstGeom prst="roundRect">
            <a:avLst>
              <a:gd name="adj" fmla="val 280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1" name="Shape 8"/>
          <p:cNvSpPr/>
          <p:nvPr/>
        </p:nvSpPr>
        <p:spPr>
          <a:xfrm>
            <a:off x="4526280" y="1828800"/>
            <a:ext cx="73152" cy="2606040"/>
          </a:xfrm>
          <a:prstGeom prst="rect">
            <a:avLst/>
          </a:prstGeom>
          <a:solidFill>
            <a:srgbClr val="990000"/>
          </a:solidFill>
          <a:ln w="12700">
            <a:solidFill>
              <a:srgbClr val="990000"/>
            </a:solidFill>
            <a:prstDash val="solid"/>
          </a:ln>
        </p:spPr>
      </p:sp>
      <p:sp>
        <p:nvSpPr>
          <p:cNvPr id="12" name="Text 9"/>
          <p:cNvSpPr/>
          <p:nvPr/>
        </p:nvSpPr>
        <p:spPr>
          <a:xfrm>
            <a:off x="4782312" y="2029968"/>
            <a:ext cx="265176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Nh?p / xu?t PDF</a:t>
            </a:r>
            <a:endParaRPr lang="en-US" sz="1300" dirty="0"/>
          </a:p>
        </p:txBody>
      </p:sp>
      <p:sp>
        <p:nvSpPr>
          <p:cNvPr id="13" name="Text 10"/>
          <p:cNvSpPr/>
          <p:nvPr/>
        </p:nvSpPr>
        <p:spPr>
          <a:xfrm>
            <a:off x="4782312" y="2395728"/>
            <a:ext cx="2651760" cy="189280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C? lu?ng nh?p ?i?m PDF v? xu?t b?o c?o PDF, ph? h?p khi sinh vi?n mu?n l?u ho?c chia s? b?ng ?i?m.</a:t>
            </a:r>
            <a:endParaRPr lang="en-US" sz="960" dirty="0"/>
          </a:p>
        </p:txBody>
      </p:sp>
      <p:sp>
        <p:nvSpPr>
          <p:cNvPr id="14" name="Shape 11"/>
          <p:cNvSpPr/>
          <p:nvPr/>
        </p:nvSpPr>
        <p:spPr>
          <a:xfrm>
            <a:off x="8321040" y="1828800"/>
            <a:ext cx="3108960" cy="2606040"/>
          </a:xfrm>
          <a:prstGeom prst="roundRect">
            <a:avLst>
              <a:gd name="adj" fmla="val 280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5" name="Shape 12"/>
          <p:cNvSpPr/>
          <p:nvPr/>
        </p:nvSpPr>
        <p:spPr>
          <a:xfrm>
            <a:off x="8321040" y="1828800"/>
            <a:ext cx="73152" cy="2606040"/>
          </a:xfrm>
          <a:prstGeom prst="rect">
            <a:avLst/>
          </a:prstGeom>
          <a:solidFill>
            <a:srgbClr val="10B981"/>
          </a:solidFill>
          <a:ln w="12700">
            <a:solidFill>
              <a:srgbClr val="10B981"/>
            </a:solidFill>
            <a:prstDash val="solid"/>
          </a:ln>
        </p:spPr>
      </p:sp>
      <p:sp>
        <p:nvSpPr>
          <p:cNvPr id="16" name="Text 13"/>
          <p:cNvSpPr/>
          <p:nvPr/>
        </p:nvSpPr>
        <p:spPr>
          <a:xfrm>
            <a:off x="8577072" y="2029968"/>
            <a:ext cx="265176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Qu?n l? sinh vi?n</a:t>
            </a:r>
            <a:endParaRPr lang="en-US" sz="1300" dirty="0"/>
          </a:p>
        </p:txBody>
      </p:sp>
      <p:sp>
        <p:nvSpPr>
          <p:cNvPr id="17" name="Text 14"/>
          <p:cNvSpPr/>
          <p:nvPr/>
        </p:nvSpPr>
        <p:spPr>
          <a:xfrm>
            <a:off x="8577072" y="2395728"/>
            <a:ext cx="2651760" cy="189280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Admin c? giao di?n xem d? li?u, l?c theo GPA, ng?nh, h?c k? v? theo d?i ti?n ?? h?c t?p to?n tr??ng.</a:t>
            </a:r>
            <a:endParaRPr lang="en-US" sz="960" dirty="0"/>
          </a:p>
        </p:txBody>
      </p:sp>
      <p:sp>
        <p:nvSpPr>
          <p:cNvPr id="18" name="Text 15"/>
          <p:cNvSpPr/>
          <p:nvPr/>
        </p:nvSpPr>
        <p:spPr>
          <a:xfrm>
            <a:off x="822960" y="5074920"/>
            <a:ext cx="10515600" cy="365760"/>
          </a:xfrm>
          <a:prstGeom prst="rect">
            <a:avLst/>
          </a:prstGeom>
          <a:noFill/>
          <a:ln/>
        </p:spPr>
        <p:txBody>
          <a:bodyPr wrap="square" lIns="0" tIns="0" rIns="0" bIns="0" rtlCol="0" anchor="ctr">
            <a:normAutofit/>
          </a:bodyPr>
          <a:lstStyle/>
          <a:p>
            <a:pPr algn="ctr" indent="0" marL="0">
              <a:buNone/>
            </a:pPr>
            <a:r>
              <a:rPr lang="en-US" sz="1600" b="1" dirty="0">
                <a:solidFill>
                  <a:srgbClr val="003375"/>
                </a:solidFill>
              </a:rPr>
              <a:t>C?ch d?ng nhanh: H?c t?p ? ?i?m s? &amp; L? tr?nh ? Th?m h?c k? / Nh?p PDF ? Ki?m tra GPA v? m?c ti?u.</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Th?i kh?a bi?u &amp; l?ch thi</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Module l?ch gi?p sinh vi?n t? ch?c h?c t?p theo tu?n, th?ng v? k? h?c.</a:t>
            </a:r>
            <a:endParaRPr lang="en-US" sz="1150" dirty="0"/>
          </a:p>
        </p:txBody>
      </p:sp>
      <p:sp>
        <p:nvSpPr>
          <p:cNvPr id="6" name="Shape 3"/>
          <p:cNvSpPr/>
          <p:nvPr/>
        </p:nvSpPr>
        <p:spPr>
          <a:xfrm>
            <a:off x="685800" y="1783080"/>
            <a:ext cx="3429000" cy="2971800"/>
          </a:xfrm>
          <a:prstGeom prst="roundRect">
            <a:avLst>
              <a:gd name="adj" fmla="val 2462"/>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7" name="Shape 4"/>
          <p:cNvSpPr/>
          <p:nvPr/>
        </p:nvSpPr>
        <p:spPr>
          <a:xfrm>
            <a:off x="685800" y="1783080"/>
            <a:ext cx="73152" cy="2971800"/>
          </a:xfrm>
          <a:prstGeom prst="rect">
            <a:avLst/>
          </a:prstGeom>
          <a:solidFill>
            <a:srgbClr val="003375"/>
          </a:solidFill>
          <a:ln w="12700">
            <a:solidFill>
              <a:srgbClr val="003375"/>
            </a:solidFill>
            <a:prstDash val="solid"/>
          </a:ln>
        </p:spPr>
      </p:sp>
      <p:sp>
        <p:nvSpPr>
          <p:cNvPr id="8" name="Text 5"/>
          <p:cNvSpPr/>
          <p:nvPr/>
        </p:nvSpPr>
        <p:spPr>
          <a:xfrm>
            <a:off x="941832" y="1984248"/>
            <a:ext cx="297180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Tra c?u m?n h?c</a:t>
            </a:r>
            <a:endParaRPr lang="en-US" sz="1300" dirty="0"/>
          </a:p>
        </p:txBody>
      </p:sp>
      <p:sp>
        <p:nvSpPr>
          <p:cNvPr id="9" name="Text 6"/>
          <p:cNvSpPr/>
          <p:nvPr/>
        </p:nvSpPr>
        <p:spPr>
          <a:xfrm>
            <a:off x="941832" y="2350008"/>
            <a:ext cx="2971800" cy="225856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T?m theo t?n m?n, m? h?c ph?n ho?c gi?ng vi?n; l?c theo h?c k? v? ??t h?c.</a:t>
            </a:r>
            <a:endParaRPr lang="en-US" sz="960" dirty="0"/>
          </a:p>
        </p:txBody>
      </p:sp>
      <p:sp>
        <p:nvSpPr>
          <p:cNvPr id="10" name="Shape 7"/>
          <p:cNvSpPr/>
          <p:nvPr/>
        </p:nvSpPr>
        <p:spPr>
          <a:xfrm>
            <a:off x="4389120" y="1783080"/>
            <a:ext cx="3429000" cy="2971800"/>
          </a:xfrm>
          <a:prstGeom prst="roundRect">
            <a:avLst>
              <a:gd name="adj" fmla="val 2462"/>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1" name="Shape 8"/>
          <p:cNvSpPr/>
          <p:nvPr/>
        </p:nvSpPr>
        <p:spPr>
          <a:xfrm>
            <a:off x="4389120" y="1783080"/>
            <a:ext cx="73152" cy="2971800"/>
          </a:xfrm>
          <a:prstGeom prst="rect">
            <a:avLst/>
          </a:prstGeom>
          <a:solidFill>
            <a:srgbClr val="0EA5E9"/>
          </a:solidFill>
          <a:ln w="12700">
            <a:solidFill>
              <a:srgbClr val="0EA5E9"/>
            </a:solidFill>
            <a:prstDash val="solid"/>
          </a:ln>
        </p:spPr>
      </p:sp>
      <p:sp>
        <p:nvSpPr>
          <p:cNvPr id="12" name="Text 9"/>
          <p:cNvSpPr/>
          <p:nvPr/>
        </p:nvSpPr>
        <p:spPr>
          <a:xfrm>
            <a:off x="4645152" y="1984248"/>
            <a:ext cx="297180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L?ch c? nh?n</a:t>
            </a:r>
            <a:endParaRPr lang="en-US" sz="1300" dirty="0"/>
          </a:p>
        </p:txBody>
      </p:sp>
      <p:sp>
        <p:nvSpPr>
          <p:cNvPr id="13" name="Text 10"/>
          <p:cNvSpPr/>
          <p:nvPr/>
        </p:nvSpPr>
        <p:spPr>
          <a:xfrm>
            <a:off x="4645152" y="2350008"/>
            <a:ext cx="2971800" cy="225856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Th?m m?n v?o l?ch ri?ng, xem theo tu?n/th?ng, xem ph?ng, ca h?c, tu?n h?c v? l?ch thi d? ki?n.</a:t>
            </a:r>
            <a:endParaRPr lang="en-US" sz="960" dirty="0"/>
          </a:p>
        </p:txBody>
      </p:sp>
      <p:sp>
        <p:nvSpPr>
          <p:cNvPr id="14" name="Shape 11"/>
          <p:cNvSpPr/>
          <p:nvPr/>
        </p:nvSpPr>
        <p:spPr>
          <a:xfrm>
            <a:off x="8092440" y="1783080"/>
            <a:ext cx="3429000" cy="2971800"/>
          </a:xfrm>
          <a:prstGeom prst="roundRect">
            <a:avLst>
              <a:gd name="adj" fmla="val 2462"/>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5" name="Shape 12"/>
          <p:cNvSpPr/>
          <p:nvPr/>
        </p:nvSpPr>
        <p:spPr>
          <a:xfrm>
            <a:off x="8092440" y="1783080"/>
            <a:ext cx="73152" cy="2971800"/>
          </a:xfrm>
          <a:prstGeom prst="rect">
            <a:avLst/>
          </a:prstGeom>
          <a:solidFill>
            <a:srgbClr val="10B981"/>
          </a:solidFill>
          <a:ln w="12700">
            <a:solidFill>
              <a:srgbClr val="10B981"/>
            </a:solidFill>
            <a:prstDash val="solid"/>
          </a:ln>
        </p:spPr>
      </p:sp>
      <p:sp>
        <p:nvSpPr>
          <p:cNvPr id="16" name="Text 13"/>
          <p:cNvSpPr/>
          <p:nvPr/>
        </p:nvSpPr>
        <p:spPr>
          <a:xfrm>
            <a:off x="8348472" y="1984248"/>
            <a:ext cx="297180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Th?ng minh h?n</a:t>
            </a:r>
            <a:endParaRPr lang="en-US" sz="1300" dirty="0"/>
          </a:p>
        </p:txBody>
      </p:sp>
      <p:sp>
        <p:nvSpPr>
          <p:cNvPr id="17" name="Text 14"/>
          <p:cNvSpPr/>
          <p:nvPr/>
        </p:nvSpPr>
        <p:spPr>
          <a:xfrm>
            <a:off x="8348472" y="2350008"/>
            <a:ext cx="2971800" cy="225856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C?nh b?o tr?ng l?ch h?c/l?ch thi, nh?p th?i kh?a bi?u t? PDF, g?n nh?n ngh?/h?c b?/thuy?t tr?nh.</a:t>
            </a:r>
            <a:endParaRPr lang="en-US" sz="960" dirty="0"/>
          </a:p>
        </p:txBody>
      </p:sp>
      <p:sp>
        <p:nvSpPr>
          <p:cNvPr id="18" name="Text 15"/>
          <p:cNvSpPr/>
          <p:nvPr/>
        </p:nvSpPr>
        <p:spPr>
          <a:xfrm>
            <a:off x="777240" y="5257800"/>
            <a:ext cx="10698480" cy="320040"/>
          </a:xfrm>
          <a:prstGeom prst="rect">
            <a:avLst/>
          </a:prstGeom>
          <a:noFill/>
          <a:ln/>
        </p:spPr>
        <p:txBody>
          <a:bodyPr wrap="square" lIns="0" tIns="0" rIns="0" bIns="0" rtlCol="0" anchor="ctr">
            <a:normAutofit/>
          </a:bodyPr>
          <a:lstStyle/>
          <a:p>
            <a:pPr algn="ctr" indent="0" marL="0">
              <a:buNone/>
            </a:pPr>
            <a:r>
              <a:rPr lang="en-US" sz="1550" b="1" dirty="0">
                <a:solidFill>
                  <a:srgbClr val="003375"/>
                </a:solidFill>
              </a:rPr>
              <a:t>C?ch d?ng nhanh: H?c t?p ? L?ch h?c &amp; Thi ? t?m m?n ? th?m v?o l?ch ? theo d?i l?ch c? nh?n.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S? ki?n ?RL</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Theo d?i, l?c v? tham gia c?c ho?t ??ng r?n luy?n trong tr??ng.</a:t>
            </a:r>
            <a:endParaRPr lang="en-US" sz="1150" dirty="0"/>
          </a:p>
        </p:txBody>
      </p:sp>
      <p:sp>
        <p:nvSpPr>
          <p:cNvPr id="6" name="Text 3"/>
          <p:cNvSpPr/>
          <p:nvPr/>
        </p:nvSpPr>
        <p:spPr>
          <a:xfrm>
            <a:off x="868680" y="1874520"/>
            <a:ext cx="5577840" cy="2926080"/>
          </a:xfrm>
          <a:prstGeom prst="rect">
            <a:avLst/>
          </a:prstGeom>
          <a:noFill/>
          <a:ln/>
        </p:spPr>
        <p:txBody>
          <a:bodyPr wrap="square" lIns="254" tIns="254" rIns="254" bIns="254" rtlCol="0" anchor="t">
            <a:normAutofit/>
          </a:bodyPr>
          <a:lstStyle/>
          <a:p>
            <a:r>
              <a:rPr lang="en-US" sz="1500" dirty="0">
                <a:solidFill>
                  <a:srgbClr val="0F172A"/>
                </a:solidFill>
              </a:rPr>
              <a:t>Danh s?ch s? ki?n theo khu v?c, m?c ?i?m v? tr?ng th?i tham gia.</a:t>
            </a:r>
            <a:endParaRPr lang="en-US" sz="1500" dirty="0"/>
          </a:p>
          <a:p>
            <a:r>
              <a:rPr lang="en-US" sz="1500" dirty="0">
                <a:solidFill>
                  <a:srgbClr val="0F172A"/>
                </a:solidFill>
              </a:rPr>
              <a:t>Sinh vi?n c? th? xem th?ng tin, l?u, b?nh lu?n v? tham gia s? ki?n.</a:t>
            </a:r>
            <a:endParaRPr lang="en-US" sz="1500" dirty="0"/>
          </a:p>
          <a:p>
            <a:r>
              <a:rPr lang="en-US" sz="1500" dirty="0">
                <a:solidFill>
                  <a:srgbClr val="0F172A"/>
                </a:solidFill>
              </a:rPr>
              <a:t>Giao di?n qu?n l? d?nh cho admin ?? t?o/s?a s? ki?n v? x? l? b?o c?o.</a:t>
            </a:r>
            <a:endParaRPr lang="en-US" sz="1500" dirty="0"/>
          </a:p>
          <a:p>
            <a:r>
              <a:rPr lang="en-US" sz="1500" dirty="0">
                <a:solidFill>
                  <a:srgbClr val="0F172A"/>
                </a:solidFill>
              </a:rPr>
              <a:t>C? th?ng b?o ??y ?? nh?c s? ki?n v? c?p nh?t m?i.</a:t>
            </a:r>
            <a:endParaRPr lang="en-US" sz="1500" dirty="0"/>
          </a:p>
        </p:txBody>
      </p:sp>
      <p:sp>
        <p:nvSpPr>
          <p:cNvPr id="7" name="Shape 4"/>
          <p:cNvSpPr/>
          <p:nvPr/>
        </p:nvSpPr>
        <p:spPr>
          <a:xfrm>
            <a:off x="6903720" y="1691640"/>
            <a:ext cx="4297680" cy="3337560"/>
          </a:xfrm>
          <a:prstGeom prst="roundRect">
            <a:avLst>
              <a:gd name="adj" fmla="val 2192"/>
            </a:avLst>
          </a:prstGeom>
          <a:solidFill>
            <a:srgbClr val="003375"/>
          </a:solidFill>
          <a:ln w="12700">
            <a:solidFill>
              <a:srgbClr val="003375"/>
            </a:solidFill>
            <a:prstDash val="solid"/>
          </a:ln>
        </p:spPr>
      </p:sp>
      <p:sp>
        <p:nvSpPr>
          <p:cNvPr id="8" name="Text 5"/>
          <p:cNvSpPr/>
          <p:nvPr/>
        </p:nvSpPr>
        <p:spPr>
          <a:xfrm>
            <a:off x="7315200" y="2084832"/>
            <a:ext cx="1234440" cy="502920"/>
          </a:xfrm>
          <a:prstGeom prst="rect">
            <a:avLst/>
          </a:prstGeom>
          <a:noFill/>
          <a:ln/>
        </p:spPr>
        <p:txBody>
          <a:bodyPr wrap="square" lIns="0" tIns="0" rIns="0" bIns="0" rtlCol="0" anchor="ctr"/>
          <a:lstStyle/>
          <a:p>
            <a:pPr indent="0" marL="0">
              <a:buNone/>
            </a:pPr>
            <a:r>
              <a:rPr lang="en-US" sz="3400" b="1" dirty="0">
                <a:solidFill>
                  <a:srgbClr val="FFFFFF"/>
                </a:solidFill>
              </a:rPr>
              <a:t>+3</a:t>
            </a:r>
            <a:endParaRPr lang="en-US" sz="3400" dirty="0"/>
          </a:p>
        </p:txBody>
      </p:sp>
      <p:sp>
        <p:nvSpPr>
          <p:cNvPr id="9" name="Text 6"/>
          <p:cNvSpPr/>
          <p:nvPr/>
        </p:nvSpPr>
        <p:spPr>
          <a:xfrm>
            <a:off x="7315200" y="2697480"/>
            <a:ext cx="2103120" cy="256032"/>
          </a:xfrm>
          <a:prstGeom prst="rect">
            <a:avLst/>
          </a:prstGeom>
          <a:noFill/>
          <a:ln/>
        </p:spPr>
        <p:txBody>
          <a:bodyPr wrap="square" lIns="0" tIns="0" rIns="0" bIns="0" rtlCol="0" anchor="ctr"/>
          <a:lstStyle/>
          <a:p>
            <a:pPr indent="0" marL="0">
              <a:buNone/>
            </a:pPr>
            <a:r>
              <a:rPr lang="en-US" sz="1300" b="1" dirty="0">
                <a:solidFill>
                  <a:srgbClr val="DDEBFF"/>
                </a:solidFill>
              </a:rPr>
              <a:t>?i?m r?n luy?n</a:t>
            </a:r>
            <a:endParaRPr lang="en-US" sz="1300" dirty="0"/>
          </a:p>
        </p:txBody>
      </p:sp>
      <p:sp>
        <p:nvSpPr>
          <p:cNvPr id="10" name="Shape 7"/>
          <p:cNvSpPr/>
          <p:nvPr/>
        </p:nvSpPr>
        <p:spPr>
          <a:xfrm>
            <a:off x="7315200" y="3246120"/>
            <a:ext cx="2971800" cy="384048"/>
          </a:xfrm>
          <a:prstGeom prst="roundRect">
            <a:avLst>
              <a:gd name="adj" fmla="val 11905"/>
            </a:avLst>
          </a:prstGeom>
          <a:solidFill>
            <a:srgbClr val="FFFFFF">
              <a:alpha val="88000"/>
            </a:srgbClr>
          </a:solidFill>
          <a:ln w="12700">
            <a:solidFill>
              <a:srgbClr val="FFFFFF">
                <a:alpha val="0"/>
              </a:srgbClr>
            </a:solidFill>
            <a:prstDash val="solid"/>
          </a:ln>
        </p:spPr>
      </p:sp>
      <p:sp>
        <p:nvSpPr>
          <p:cNvPr id="11" name="Text 8"/>
          <p:cNvSpPr/>
          <p:nvPr/>
        </p:nvSpPr>
        <p:spPr>
          <a:xfrm>
            <a:off x="7498080" y="3364992"/>
            <a:ext cx="2606040" cy="128016"/>
          </a:xfrm>
          <a:prstGeom prst="rect">
            <a:avLst/>
          </a:prstGeom>
          <a:noFill/>
          <a:ln/>
        </p:spPr>
        <p:txBody>
          <a:bodyPr wrap="square" lIns="0" tIns="0" rIns="0" bIns="0" rtlCol="0" anchor="ctr"/>
          <a:lstStyle/>
          <a:p>
            <a:pPr algn="ctr" indent="0" marL="0">
              <a:buNone/>
            </a:pPr>
            <a:r>
              <a:rPr lang="en-US" sz="950" b="1" dirty="0">
                <a:solidFill>
                  <a:srgbClr val="FFFFFF"/>
                </a:solidFill>
              </a:rPr>
              <a:t>Tham gia ngay</a:t>
            </a:r>
            <a:endParaRPr lang="en-US" sz="950" dirty="0"/>
          </a:p>
        </p:txBody>
      </p:sp>
      <p:sp>
        <p:nvSpPr>
          <p:cNvPr id="12" name="Text 9"/>
          <p:cNvSpPr/>
          <p:nvPr/>
        </p:nvSpPr>
        <p:spPr>
          <a:xfrm>
            <a:off x="7315200" y="4069080"/>
            <a:ext cx="3383280" cy="201168"/>
          </a:xfrm>
          <a:prstGeom prst="rect">
            <a:avLst/>
          </a:prstGeom>
          <a:noFill/>
          <a:ln/>
        </p:spPr>
        <p:txBody>
          <a:bodyPr wrap="square" lIns="0" tIns="0" rIns="0" bIns="0" rtlCol="0" anchor="ctr">
            <a:normAutofit/>
          </a:bodyPr>
          <a:lstStyle/>
          <a:p>
            <a:pPr indent="0" marL="0">
              <a:buNone/>
            </a:pPr>
            <a:r>
              <a:rPr lang="en-US" sz="900" dirty="0">
                <a:solidFill>
                  <a:srgbClr val="DDEBFF"/>
                </a:solidFill>
              </a:rPr>
              <a:t>T?t c? ? ?? tham gia ? M?c I ? M?c II ? M?c III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Ti?n ?ch c?ng ??ng</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HUB Planner kh?ng ch? l? b?ng ?i?m, m? c?n h? tr? ??i s?ng sinh vi?n.</a:t>
            </a:r>
            <a:endParaRPr lang="en-US" sz="1150" dirty="0"/>
          </a:p>
        </p:txBody>
      </p:sp>
      <p:sp>
        <p:nvSpPr>
          <p:cNvPr id="6" name="Shape 3"/>
          <p:cNvSpPr/>
          <p:nvPr/>
        </p:nvSpPr>
        <p:spPr>
          <a:xfrm>
            <a:off x="731520" y="1828800"/>
            <a:ext cx="3200400" cy="2743200"/>
          </a:xfrm>
          <a:prstGeom prst="roundRect">
            <a:avLst>
              <a:gd name="adj" fmla="val 266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7" name="Shape 4"/>
          <p:cNvSpPr/>
          <p:nvPr/>
        </p:nvSpPr>
        <p:spPr>
          <a:xfrm>
            <a:off x="731520" y="1828800"/>
            <a:ext cx="73152" cy="2743200"/>
          </a:xfrm>
          <a:prstGeom prst="rect">
            <a:avLst/>
          </a:prstGeom>
          <a:solidFill>
            <a:srgbClr val="7C3AED"/>
          </a:solidFill>
          <a:ln w="12700">
            <a:solidFill>
              <a:srgbClr val="7C3AED"/>
            </a:solidFill>
            <a:prstDash val="solid"/>
          </a:ln>
        </p:spPr>
      </p:sp>
      <p:sp>
        <p:nvSpPr>
          <p:cNvPr id="8" name="Text 5"/>
          <p:cNvSpPr/>
          <p:nvPr/>
        </p:nvSpPr>
        <p:spPr>
          <a:xfrm>
            <a:off x="987552" y="2029968"/>
            <a:ext cx="274320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T?m ?? th?t l?c</a:t>
            </a:r>
            <a:endParaRPr lang="en-US" sz="1300" dirty="0"/>
          </a:p>
        </p:txBody>
      </p:sp>
      <p:sp>
        <p:nvSpPr>
          <p:cNvPr id="9" name="Text 6"/>
          <p:cNvSpPr/>
          <p:nvPr/>
        </p:nvSpPr>
        <p:spPr>
          <a:xfrm>
            <a:off x="987552" y="2395728"/>
            <a:ext cx="2743200" cy="202996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??ng b?i nh?t ???c ho?c t?m ??, t?m ki?m theo t? kh?a, h? tr? k?t n?i ng??i m?t v? ng??i nh?t.</a:t>
            </a:r>
            <a:endParaRPr lang="en-US" sz="960" dirty="0"/>
          </a:p>
        </p:txBody>
      </p:sp>
      <p:sp>
        <p:nvSpPr>
          <p:cNvPr id="10" name="Shape 7"/>
          <p:cNvSpPr/>
          <p:nvPr/>
        </p:nvSpPr>
        <p:spPr>
          <a:xfrm>
            <a:off x="4480560" y="1828800"/>
            <a:ext cx="3200400" cy="2743200"/>
          </a:xfrm>
          <a:prstGeom prst="roundRect">
            <a:avLst>
              <a:gd name="adj" fmla="val 266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1" name="Shape 8"/>
          <p:cNvSpPr/>
          <p:nvPr/>
        </p:nvSpPr>
        <p:spPr>
          <a:xfrm>
            <a:off x="4480560" y="1828800"/>
            <a:ext cx="73152" cy="2743200"/>
          </a:xfrm>
          <a:prstGeom prst="rect">
            <a:avLst/>
          </a:prstGeom>
          <a:solidFill>
            <a:srgbClr val="003375"/>
          </a:solidFill>
          <a:ln w="12700">
            <a:solidFill>
              <a:srgbClr val="003375"/>
            </a:solidFill>
            <a:prstDash val="solid"/>
          </a:ln>
        </p:spPr>
      </p:sp>
      <p:sp>
        <p:nvSpPr>
          <p:cNvPr id="12" name="Text 9"/>
          <p:cNvSpPr/>
          <p:nvPr/>
        </p:nvSpPr>
        <p:spPr>
          <a:xfrm>
            <a:off x="4736592" y="2029968"/>
            <a:ext cx="274320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C?m nang sinh vi?n</a:t>
            </a:r>
            <a:endParaRPr lang="en-US" sz="1300" dirty="0"/>
          </a:p>
        </p:txBody>
      </p:sp>
      <p:sp>
        <p:nvSpPr>
          <p:cNvPr id="13" name="Text 10"/>
          <p:cNvSpPr/>
          <p:nvPr/>
        </p:nvSpPr>
        <p:spPr>
          <a:xfrm>
            <a:off x="4736592" y="2395728"/>
            <a:ext cx="2743200" cy="202996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T?ng h?p li?n h?, CLB - ??i - Nh?m, h?c b?ng, g?p ? v? c?c th?ng tin h?u ?ch.</a:t>
            </a:r>
            <a:endParaRPr lang="en-US" sz="960" dirty="0"/>
          </a:p>
        </p:txBody>
      </p:sp>
      <p:sp>
        <p:nvSpPr>
          <p:cNvPr id="14" name="Shape 11"/>
          <p:cNvSpPr/>
          <p:nvPr/>
        </p:nvSpPr>
        <p:spPr>
          <a:xfrm>
            <a:off x="8229600" y="1828800"/>
            <a:ext cx="3200400" cy="2743200"/>
          </a:xfrm>
          <a:prstGeom prst="roundRect">
            <a:avLst>
              <a:gd name="adj" fmla="val 2667"/>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5" name="Shape 12"/>
          <p:cNvSpPr/>
          <p:nvPr/>
        </p:nvSpPr>
        <p:spPr>
          <a:xfrm>
            <a:off x="8229600" y="1828800"/>
            <a:ext cx="73152" cy="2743200"/>
          </a:xfrm>
          <a:prstGeom prst="rect">
            <a:avLst/>
          </a:prstGeom>
          <a:solidFill>
            <a:srgbClr val="10B981"/>
          </a:solidFill>
          <a:ln w="12700">
            <a:solidFill>
              <a:srgbClr val="10B981"/>
            </a:solidFill>
            <a:prstDash val="solid"/>
          </a:ln>
        </p:spPr>
      </p:sp>
      <p:sp>
        <p:nvSpPr>
          <p:cNvPr id="16" name="Text 13"/>
          <p:cNvSpPr/>
          <p:nvPr/>
        </p:nvSpPr>
        <p:spPr>
          <a:xfrm>
            <a:off x="8485632" y="2029968"/>
            <a:ext cx="274320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Tin t?c &amp; th?ng b?o</a:t>
            </a:r>
            <a:endParaRPr lang="en-US" sz="1300" dirty="0"/>
          </a:p>
        </p:txBody>
      </p:sp>
      <p:sp>
        <p:nvSpPr>
          <p:cNvPr id="17" name="Text 14"/>
          <p:cNvSpPr/>
          <p:nvPr/>
        </p:nvSpPr>
        <p:spPr>
          <a:xfrm>
            <a:off x="8485632" y="2395728"/>
            <a:ext cx="2743200" cy="202996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Trang ch? mobile l?y th?ng b?o tr??ng t? Supabase v? hi?n th? d?ng news feed th?n thi?n.</a:t>
            </a:r>
            <a:endParaRPr lang="en-US" sz="960" dirty="0"/>
          </a:p>
        </p:txBody>
      </p:sp>
      <p:sp>
        <p:nvSpPr>
          <p:cNvPr id="18" name="Text 15"/>
          <p:cNvSpPr/>
          <p:nvPr/>
        </p:nvSpPr>
        <p:spPr>
          <a:xfrm>
            <a:off x="822960" y="5074920"/>
            <a:ext cx="10424160" cy="320040"/>
          </a:xfrm>
          <a:prstGeom prst="rect">
            <a:avLst/>
          </a:prstGeom>
          <a:noFill/>
          <a:ln/>
        </p:spPr>
        <p:txBody>
          <a:bodyPr wrap="square" lIns="0" tIns="0" rIns="0" bIns="0" rtlCol="0" anchor="ctr">
            <a:normAutofit/>
          </a:bodyPr>
          <a:lstStyle/>
          <a:p>
            <a:pPr algn="ctr" indent="0" marL="0">
              <a:buNone/>
            </a:pPr>
            <a:r>
              <a:rPr lang="en-US" sz="1500" b="1" dirty="0">
                <a:solidFill>
                  <a:srgbClr val="003375"/>
                </a:solidFill>
              </a:rPr>
              <a:t>C?c ti?n ?ch n?y bi?n website th?nh m?t ?i?m ch?m h?ng ng?y, kh?ng ch? d?ng v?o cu?i 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AI Advisor &amp; c? nh?n h?a</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Tr? l? AI ??c ng? c?nh h?c t?p ?? t? v?n ph? h?p t?ng sinh vi?n.</a:t>
            </a:r>
            <a:endParaRPr lang="en-US" sz="1150" dirty="0"/>
          </a:p>
        </p:txBody>
      </p:sp>
      <p:sp>
        <p:nvSpPr>
          <p:cNvPr id="6" name="Shape 3"/>
          <p:cNvSpPr/>
          <p:nvPr/>
        </p:nvSpPr>
        <p:spPr>
          <a:xfrm>
            <a:off x="731520" y="1783080"/>
            <a:ext cx="3246120" cy="2880360"/>
          </a:xfrm>
          <a:prstGeom prst="roundRect">
            <a:avLst>
              <a:gd name="adj" fmla="val 2540"/>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7" name="Shape 4"/>
          <p:cNvSpPr/>
          <p:nvPr/>
        </p:nvSpPr>
        <p:spPr>
          <a:xfrm>
            <a:off x="731520" y="1783080"/>
            <a:ext cx="73152" cy="2880360"/>
          </a:xfrm>
          <a:prstGeom prst="rect">
            <a:avLst/>
          </a:prstGeom>
          <a:solidFill>
            <a:srgbClr val="003375"/>
          </a:solidFill>
          <a:ln w="12700">
            <a:solidFill>
              <a:srgbClr val="003375"/>
            </a:solidFill>
            <a:prstDash val="solid"/>
          </a:ln>
        </p:spPr>
      </p:sp>
      <p:sp>
        <p:nvSpPr>
          <p:cNvPr id="8" name="Text 5"/>
          <p:cNvSpPr/>
          <p:nvPr/>
        </p:nvSpPr>
        <p:spPr>
          <a:xfrm>
            <a:off x="987552" y="1984248"/>
            <a:ext cx="278892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Ng? c?nh h?c t?p</a:t>
            </a:r>
            <a:endParaRPr lang="en-US" sz="1300" dirty="0"/>
          </a:p>
        </p:txBody>
      </p:sp>
      <p:sp>
        <p:nvSpPr>
          <p:cNvPr id="9" name="Text 6"/>
          <p:cNvSpPr/>
          <p:nvPr/>
        </p:nvSpPr>
        <p:spPr>
          <a:xfrm>
            <a:off x="987552" y="2350008"/>
            <a:ext cx="2788920" cy="216712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AI nh?n GPA, ng?nh, kh?a, m?n n? v? m?c ti?u GPA ?? tr? l?i s?t t?nh tr?ng hi?n t?i.</a:t>
            </a:r>
            <a:endParaRPr lang="en-US" sz="960" dirty="0"/>
          </a:p>
        </p:txBody>
      </p:sp>
      <p:sp>
        <p:nvSpPr>
          <p:cNvPr id="10" name="Shape 7"/>
          <p:cNvSpPr/>
          <p:nvPr/>
        </p:nvSpPr>
        <p:spPr>
          <a:xfrm>
            <a:off x="4480560" y="1783080"/>
            <a:ext cx="3246120" cy="2880360"/>
          </a:xfrm>
          <a:prstGeom prst="roundRect">
            <a:avLst>
              <a:gd name="adj" fmla="val 2540"/>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1" name="Shape 8"/>
          <p:cNvSpPr/>
          <p:nvPr/>
        </p:nvSpPr>
        <p:spPr>
          <a:xfrm>
            <a:off x="4480560" y="1783080"/>
            <a:ext cx="73152" cy="2880360"/>
          </a:xfrm>
          <a:prstGeom prst="rect">
            <a:avLst/>
          </a:prstGeom>
          <a:solidFill>
            <a:srgbClr val="F59E0B"/>
          </a:solidFill>
          <a:ln w="12700">
            <a:solidFill>
              <a:srgbClr val="F59E0B"/>
            </a:solidFill>
            <a:prstDash val="solid"/>
          </a:ln>
        </p:spPr>
      </p:sp>
      <p:sp>
        <p:nvSpPr>
          <p:cNvPr id="12" name="Text 9"/>
          <p:cNvSpPr/>
          <p:nvPr/>
        </p:nvSpPr>
        <p:spPr>
          <a:xfrm>
            <a:off x="4736592" y="1984248"/>
            <a:ext cx="278892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L?ch s? h?i tho?i</a:t>
            </a:r>
            <a:endParaRPr lang="en-US" sz="1300" dirty="0"/>
          </a:p>
        </p:txBody>
      </p:sp>
      <p:sp>
        <p:nvSpPr>
          <p:cNvPr id="13" name="Text 10"/>
          <p:cNvSpPr/>
          <p:nvPr/>
        </p:nvSpPr>
        <p:spPr>
          <a:xfrm>
            <a:off x="4736592" y="2350008"/>
            <a:ext cx="2788920" cy="216712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L?u, ghim, ??i t?n, ??nh gi? c?u tr? l?i v? xem l?i c?c phi?n t? v?n tr??c ??.</a:t>
            </a:r>
            <a:endParaRPr lang="en-US" sz="960" dirty="0"/>
          </a:p>
        </p:txBody>
      </p:sp>
      <p:sp>
        <p:nvSpPr>
          <p:cNvPr id="14" name="Shape 11"/>
          <p:cNvSpPr/>
          <p:nvPr/>
        </p:nvSpPr>
        <p:spPr>
          <a:xfrm>
            <a:off x="8229600" y="1783080"/>
            <a:ext cx="3246120" cy="2880360"/>
          </a:xfrm>
          <a:prstGeom prst="roundRect">
            <a:avLst>
              <a:gd name="adj" fmla="val 2540"/>
            </a:avLst>
          </a:prstGeom>
          <a:solidFill>
            <a:srgbClr val="FFFFFF"/>
          </a:solidFill>
          <a:ln w="12700">
            <a:solidFill>
              <a:srgbClr val="D8E1EE">
                <a:alpha val="90000"/>
              </a:srgbClr>
            </a:solidFill>
            <a:prstDash val="solid"/>
          </a:ln>
          <a:effectLst>
            <a:outerShdw sx="100000" sy="100000" kx="0" ky="0" algn="bl" rotWithShape="0" blurRad="12700" dist="50800" dir="2700000">
              <a:srgbClr val="94A3B8">
                <a:alpha val="14000"/>
              </a:srgbClr>
            </a:outerShdw>
          </a:effectLst>
        </p:spPr>
      </p:sp>
      <p:sp>
        <p:nvSpPr>
          <p:cNvPr id="15" name="Shape 12"/>
          <p:cNvSpPr/>
          <p:nvPr/>
        </p:nvSpPr>
        <p:spPr>
          <a:xfrm>
            <a:off x="8229600" y="1783080"/>
            <a:ext cx="73152" cy="2880360"/>
          </a:xfrm>
          <a:prstGeom prst="rect">
            <a:avLst/>
          </a:prstGeom>
          <a:solidFill>
            <a:srgbClr val="0EA5E9"/>
          </a:solidFill>
          <a:ln w="12700">
            <a:solidFill>
              <a:srgbClr val="0EA5E9"/>
            </a:solidFill>
            <a:prstDash val="solid"/>
          </a:ln>
        </p:spPr>
      </p:sp>
      <p:sp>
        <p:nvSpPr>
          <p:cNvPr id="16" name="Text 13"/>
          <p:cNvSpPr/>
          <p:nvPr/>
        </p:nvSpPr>
        <p:spPr>
          <a:xfrm>
            <a:off x="8485632" y="1984248"/>
            <a:ext cx="2788920" cy="228600"/>
          </a:xfrm>
          <a:prstGeom prst="rect">
            <a:avLst/>
          </a:prstGeom>
          <a:noFill/>
          <a:ln/>
        </p:spPr>
        <p:txBody>
          <a:bodyPr wrap="square" lIns="0" tIns="0" rIns="0" bIns="0" rtlCol="0" anchor="ctr">
            <a:normAutofit/>
          </a:bodyPr>
          <a:lstStyle/>
          <a:p>
            <a:pPr indent="0" marL="0">
              <a:buNone/>
            </a:pPr>
            <a:r>
              <a:rPr lang="en-US" sz="1300" b="1" dirty="0">
                <a:solidFill>
                  <a:srgbClr val="0F172A"/>
                </a:solidFill>
              </a:rPr>
              <a:t>Mobile-first</a:t>
            </a:r>
            <a:endParaRPr lang="en-US" sz="1300" dirty="0"/>
          </a:p>
        </p:txBody>
      </p:sp>
      <p:sp>
        <p:nvSpPr>
          <p:cNvPr id="17" name="Text 14"/>
          <p:cNvSpPr/>
          <p:nvPr/>
        </p:nvSpPr>
        <p:spPr>
          <a:xfrm>
            <a:off x="8485632" y="2350008"/>
            <a:ext cx="2788920" cy="2167128"/>
          </a:xfrm>
          <a:prstGeom prst="rect">
            <a:avLst/>
          </a:prstGeom>
          <a:noFill/>
          <a:ln/>
        </p:spPr>
        <p:txBody>
          <a:bodyPr wrap="square" lIns="254" tIns="254" rIns="254" bIns="254" rtlCol="0" anchor="t">
            <a:normAutofit/>
          </a:bodyPr>
          <a:lstStyle/>
          <a:p>
            <a:pPr indent="0" marL="0">
              <a:buNone/>
            </a:pPr>
            <a:r>
              <a:rPr lang="en-US" sz="960" dirty="0">
                <a:solidFill>
                  <a:srgbClr val="475569"/>
                </a:solidFill>
              </a:rPr>
              <a:t>C? n?t chat n?i, h? tr? k?o th?, popup to?n m?n h?nh tr?n mobile v? b?o v? n?i dung b?ng ??ng nh?p.</a:t>
            </a:r>
            <a:endParaRPr lang="en-US" sz="960" dirty="0"/>
          </a:p>
        </p:txBody>
      </p:sp>
      <p:sp>
        <p:nvSpPr>
          <p:cNvPr id="18" name="Text 15"/>
          <p:cNvSpPr/>
          <p:nvPr/>
        </p:nvSpPr>
        <p:spPr>
          <a:xfrm>
            <a:off x="960120" y="5074920"/>
            <a:ext cx="10058400" cy="594360"/>
          </a:xfrm>
          <a:prstGeom prst="rect">
            <a:avLst/>
          </a:prstGeom>
          <a:noFill/>
          <a:ln/>
        </p:spPr>
        <p:txBody>
          <a:bodyPr wrap="square" lIns="254" tIns="254" rIns="254" bIns="254" rtlCol="0" anchor="t">
            <a:normAutofit/>
          </a:bodyPr>
          <a:lstStyle/>
          <a:p>
            <a:r>
              <a:rPr lang="en-US" sz="1300" dirty="0">
                <a:solidFill>
                  <a:srgbClr val="0F172A"/>
                </a:solidFill>
              </a:rPr>
              <a:t>V? d?: ?M?c ti?u GPA 3.2 c? kh? thi kh?ng??</a:t>
            </a:r>
            <a:endParaRPr lang="en-US" sz="1300" dirty="0"/>
          </a:p>
          <a:p>
            <a:r>
              <a:rPr lang="en-US" sz="1300" dirty="0">
                <a:solidFill>
                  <a:srgbClr val="0F172A"/>
                </a:solidFill>
              </a:rPr>
              <a:t>V? d?: ?M?n n?o ?ang k?o GPA c?a m?nh xu?ng??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Projects\HUB-PLANNER\public\logoapp.png">    </p:cNvPr>
          <p:cNvPicPr>
            <a:picLocks noChangeAspect="1"/>
          </p:cNvPicPr>
          <p:nvPr/>
        </p:nvPicPr>
        <p:blipFill>
          <a:blip r:embed="rId1"/>
          <a:stretch>
            <a:fillRect/>
          </a:stretch>
        </p:blipFill>
        <p:spPr>
          <a:xfrm>
            <a:off x="438912" y="310896"/>
            <a:ext cx="402336" cy="402336"/>
          </a:xfrm>
          <a:prstGeom prst="rect">
            <a:avLst/>
          </a:prstGeom>
        </p:spPr>
      </p:pic>
      <p:sp>
        <p:nvSpPr>
          <p:cNvPr id="3" name="Text 0"/>
          <p:cNvSpPr/>
          <p:nvPr/>
        </p:nvSpPr>
        <p:spPr>
          <a:xfrm>
            <a:off x="896112" y="338328"/>
            <a:ext cx="1554480" cy="228600"/>
          </a:xfrm>
          <a:prstGeom prst="rect">
            <a:avLst/>
          </a:prstGeom>
          <a:noFill/>
          <a:ln/>
        </p:spPr>
        <p:txBody>
          <a:bodyPr wrap="square" lIns="0" tIns="0" rIns="0" bIns="0" rtlCol="0" anchor="ctr">
            <a:normAutofit/>
          </a:bodyPr>
          <a:lstStyle/>
          <a:p>
            <a:pPr indent="0" marL="0">
              <a:buNone/>
            </a:pPr>
            <a:r>
              <a:rPr lang="en-US" sz="1200" b="1" dirty="0">
                <a:solidFill>
                  <a:srgbClr val="003375"/>
                </a:solidFill>
                <a:latin typeface="Aptos Display" pitchFamily="34" charset="0"/>
                <a:ea typeface="Aptos Display" pitchFamily="34" charset="-122"/>
                <a:cs typeface="Aptos Display" pitchFamily="34" charset="-120"/>
              </a:rPr>
              <a:t>HUB Planner</a:t>
            </a:r>
            <a:endParaRPr lang="en-US" sz="1200" dirty="0"/>
          </a:p>
        </p:txBody>
      </p:sp>
      <p:sp>
        <p:nvSpPr>
          <p:cNvPr id="4" name="Text 1"/>
          <p:cNvSpPr/>
          <p:nvPr/>
        </p:nvSpPr>
        <p:spPr>
          <a:xfrm>
            <a:off x="594360" y="868680"/>
            <a:ext cx="8595360" cy="502920"/>
          </a:xfrm>
          <a:prstGeom prst="rect">
            <a:avLst/>
          </a:prstGeom>
          <a:noFill/>
          <a:ln/>
        </p:spPr>
        <p:txBody>
          <a:bodyPr wrap="square" lIns="254" tIns="254" rIns="254" bIns="254" rtlCol="0" anchor="ctr">
            <a:normAutofit/>
          </a:bodyPr>
          <a:lstStyle/>
          <a:p>
            <a:pPr indent="0" marL="0">
              <a:buNone/>
            </a:pPr>
            <a:r>
              <a:rPr lang="en-US" sz="2800" b="1" dirty="0">
                <a:solidFill>
                  <a:srgbClr val="003375"/>
                </a:solidFill>
                <a:latin typeface="Aptos Display" pitchFamily="34" charset="0"/>
                <a:ea typeface="Aptos Display" pitchFamily="34" charset="-122"/>
                <a:cs typeface="Aptos Display" pitchFamily="34" charset="-120"/>
              </a:rPr>
              <a:t>C?ch s? d?ng &amp; k?t lu?n</a:t>
            </a:r>
            <a:endParaRPr lang="en-US" sz="2800" dirty="0"/>
          </a:p>
        </p:txBody>
      </p:sp>
      <p:sp>
        <p:nvSpPr>
          <p:cNvPr id="5" name="Text 2"/>
          <p:cNvSpPr/>
          <p:nvPr/>
        </p:nvSpPr>
        <p:spPr>
          <a:xfrm>
            <a:off x="612648" y="1371600"/>
            <a:ext cx="8778240" cy="256032"/>
          </a:xfrm>
          <a:prstGeom prst="rect">
            <a:avLst/>
          </a:prstGeom>
          <a:noFill/>
          <a:ln/>
        </p:spPr>
        <p:txBody>
          <a:bodyPr wrap="square" lIns="254" tIns="254" rIns="254" bIns="254" rtlCol="0" anchor="ctr">
            <a:normAutofit/>
          </a:bodyPr>
          <a:lstStyle/>
          <a:p>
            <a:pPr indent="0" marL="0">
              <a:buNone/>
            </a:pPr>
            <a:r>
              <a:rPr lang="en-US" sz="1150" dirty="0">
                <a:solidFill>
                  <a:srgbClr val="64748B"/>
                </a:solidFill>
              </a:rPr>
              <a:t>M?t quy tr?nh ??n gi?n ?? sinh vi?n b?t ??u v?i HUB Planner.</a:t>
            </a:r>
            <a:endParaRPr lang="en-US" sz="1150" dirty="0"/>
          </a:p>
        </p:txBody>
      </p:sp>
      <p:sp>
        <p:nvSpPr>
          <p:cNvPr id="6" name="Shape 3"/>
          <p:cNvSpPr/>
          <p:nvPr/>
        </p:nvSpPr>
        <p:spPr>
          <a:xfrm>
            <a:off x="777240" y="1874520"/>
            <a:ext cx="566928" cy="566928"/>
          </a:xfrm>
          <a:prstGeom prst="ellipse">
            <a:avLst/>
          </a:prstGeom>
          <a:solidFill>
            <a:srgbClr val="990000"/>
          </a:solidFill>
          <a:ln w="12700">
            <a:solidFill>
              <a:srgbClr val="990000"/>
            </a:solidFill>
            <a:prstDash val="solid"/>
          </a:ln>
        </p:spPr>
      </p:sp>
      <p:sp>
        <p:nvSpPr>
          <p:cNvPr id="7" name="Text 4"/>
          <p:cNvSpPr/>
          <p:nvPr/>
        </p:nvSpPr>
        <p:spPr>
          <a:xfrm>
            <a:off x="777240" y="2029968"/>
            <a:ext cx="566928" cy="14630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p:nvPr/>
        </p:nvSpPr>
        <p:spPr>
          <a:xfrm>
            <a:off x="777240" y="2697480"/>
            <a:ext cx="2240280" cy="274320"/>
          </a:xfrm>
          <a:prstGeom prst="rect">
            <a:avLst/>
          </a:prstGeom>
          <a:noFill/>
          <a:ln/>
        </p:spPr>
        <p:txBody>
          <a:bodyPr wrap="square" lIns="0" tIns="0" rIns="0" bIns="0" rtlCol="0" anchor="ctr">
            <a:normAutofit/>
          </a:bodyPr>
          <a:lstStyle/>
          <a:p>
            <a:pPr indent="0" marL="0">
              <a:buNone/>
            </a:pPr>
            <a:r>
              <a:rPr lang="en-US" sz="1500" b="1" dirty="0">
                <a:solidFill>
                  <a:srgbClr val="0F172A"/>
                </a:solidFill>
              </a:rPr>
              <a:t>??ng nh?p</a:t>
            </a:r>
            <a:endParaRPr lang="en-US" sz="1500" dirty="0"/>
          </a:p>
        </p:txBody>
      </p:sp>
      <p:sp>
        <p:nvSpPr>
          <p:cNvPr id="9" name="Text 6"/>
          <p:cNvSpPr/>
          <p:nvPr/>
        </p:nvSpPr>
        <p:spPr>
          <a:xfrm>
            <a:off x="777240" y="3090672"/>
            <a:ext cx="2240280" cy="73152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D?ng t?i kho?n sinh vi?n ?? l?u d? li?u v? ??ng b? thi?t b?.</a:t>
            </a:r>
            <a:endParaRPr lang="en-US" sz="1020" dirty="0"/>
          </a:p>
        </p:txBody>
      </p:sp>
      <p:sp>
        <p:nvSpPr>
          <p:cNvPr id="10" name="Shape 7"/>
          <p:cNvSpPr/>
          <p:nvPr/>
        </p:nvSpPr>
        <p:spPr>
          <a:xfrm>
            <a:off x="2926080" y="2029968"/>
            <a:ext cx="320040" cy="201168"/>
          </a:xfrm>
          <a:prstGeom prst="chevron">
            <a:avLst/>
          </a:prstGeom>
          <a:solidFill>
            <a:srgbClr val="D8E1EE"/>
          </a:solidFill>
          <a:ln w="12700">
            <a:solidFill>
              <a:srgbClr val="D8E1EE"/>
            </a:solidFill>
            <a:prstDash val="solid"/>
          </a:ln>
        </p:spPr>
      </p:sp>
      <p:sp>
        <p:nvSpPr>
          <p:cNvPr id="11" name="Shape 8"/>
          <p:cNvSpPr/>
          <p:nvPr/>
        </p:nvSpPr>
        <p:spPr>
          <a:xfrm>
            <a:off x="3566160" y="1874520"/>
            <a:ext cx="566928" cy="566928"/>
          </a:xfrm>
          <a:prstGeom prst="ellipse">
            <a:avLst/>
          </a:prstGeom>
          <a:solidFill>
            <a:srgbClr val="003375"/>
          </a:solidFill>
          <a:ln w="12700">
            <a:solidFill>
              <a:srgbClr val="003375"/>
            </a:solidFill>
            <a:prstDash val="solid"/>
          </a:ln>
        </p:spPr>
      </p:sp>
      <p:sp>
        <p:nvSpPr>
          <p:cNvPr id="12" name="Text 9"/>
          <p:cNvSpPr/>
          <p:nvPr/>
        </p:nvSpPr>
        <p:spPr>
          <a:xfrm>
            <a:off x="3566160" y="2029968"/>
            <a:ext cx="566928" cy="14630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p:nvPr/>
        </p:nvSpPr>
        <p:spPr>
          <a:xfrm>
            <a:off x="3566160" y="2697480"/>
            <a:ext cx="2240280" cy="27432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Onboarding</a:t>
            </a:r>
            <a:endParaRPr lang="en-US" sz="1500" dirty="0"/>
          </a:p>
        </p:txBody>
      </p:sp>
      <p:sp>
        <p:nvSpPr>
          <p:cNvPr id="14" name="Text 11"/>
          <p:cNvSpPr/>
          <p:nvPr/>
        </p:nvSpPr>
        <p:spPr>
          <a:xfrm>
            <a:off x="3566160" y="3090672"/>
            <a:ext cx="2240280" cy="73152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Ch?n kh?a, ng?nh, ch??ng tr?nh v? chuy?n ng?nh.</a:t>
            </a:r>
            <a:endParaRPr lang="en-US" sz="1020" dirty="0"/>
          </a:p>
        </p:txBody>
      </p:sp>
      <p:sp>
        <p:nvSpPr>
          <p:cNvPr id="15" name="Shape 12"/>
          <p:cNvSpPr/>
          <p:nvPr/>
        </p:nvSpPr>
        <p:spPr>
          <a:xfrm>
            <a:off x="5715000" y="2029968"/>
            <a:ext cx="320040" cy="201168"/>
          </a:xfrm>
          <a:prstGeom prst="chevron">
            <a:avLst/>
          </a:prstGeom>
          <a:solidFill>
            <a:srgbClr val="D8E1EE"/>
          </a:solidFill>
          <a:ln w="12700">
            <a:solidFill>
              <a:srgbClr val="D8E1EE"/>
            </a:solidFill>
            <a:prstDash val="solid"/>
          </a:ln>
        </p:spPr>
      </p:sp>
      <p:sp>
        <p:nvSpPr>
          <p:cNvPr id="16" name="Shape 13"/>
          <p:cNvSpPr/>
          <p:nvPr/>
        </p:nvSpPr>
        <p:spPr>
          <a:xfrm>
            <a:off x="6355080" y="1874520"/>
            <a:ext cx="566928" cy="566928"/>
          </a:xfrm>
          <a:prstGeom prst="ellipse">
            <a:avLst/>
          </a:prstGeom>
          <a:solidFill>
            <a:srgbClr val="003375"/>
          </a:solidFill>
          <a:ln w="12700">
            <a:solidFill>
              <a:srgbClr val="003375"/>
            </a:solidFill>
            <a:prstDash val="solid"/>
          </a:ln>
        </p:spPr>
      </p:sp>
      <p:sp>
        <p:nvSpPr>
          <p:cNvPr id="17" name="Text 14"/>
          <p:cNvSpPr/>
          <p:nvPr/>
        </p:nvSpPr>
        <p:spPr>
          <a:xfrm>
            <a:off x="6355080" y="2029968"/>
            <a:ext cx="566928" cy="14630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p:nvPr/>
        </p:nvSpPr>
        <p:spPr>
          <a:xfrm>
            <a:off x="6355080" y="2697480"/>
            <a:ext cx="2240280" cy="274320"/>
          </a:xfrm>
          <a:prstGeom prst="rect">
            <a:avLst/>
          </a:prstGeom>
          <a:noFill/>
          <a:ln/>
        </p:spPr>
        <p:txBody>
          <a:bodyPr wrap="square" lIns="0" tIns="0" rIns="0" bIns="0" rtlCol="0" anchor="ctr">
            <a:normAutofit/>
          </a:bodyPr>
          <a:lstStyle/>
          <a:p>
            <a:pPr indent="0" marL="0">
              <a:buNone/>
            </a:pPr>
            <a:r>
              <a:rPr lang="en-US" sz="1500" b="1" dirty="0">
                <a:solidFill>
                  <a:srgbClr val="0F172A"/>
                </a:solidFill>
              </a:rPr>
              <a:t>Nh?p d? li?u</a:t>
            </a:r>
            <a:endParaRPr lang="en-US" sz="1500" dirty="0"/>
          </a:p>
        </p:txBody>
      </p:sp>
      <p:sp>
        <p:nvSpPr>
          <p:cNvPr id="19" name="Text 16"/>
          <p:cNvSpPr/>
          <p:nvPr/>
        </p:nvSpPr>
        <p:spPr>
          <a:xfrm>
            <a:off x="6355080" y="3090672"/>
            <a:ext cx="2240280" cy="73152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Nh?p ?i?m/th?i kh?a bi?u th? c?ng ho?c t? PDF.</a:t>
            </a:r>
            <a:endParaRPr lang="en-US" sz="1020" dirty="0"/>
          </a:p>
        </p:txBody>
      </p:sp>
      <p:sp>
        <p:nvSpPr>
          <p:cNvPr id="20" name="Shape 17"/>
          <p:cNvSpPr/>
          <p:nvPr/>
        </p:nvSpPr>
        <p:spPr>
          <a:xfrm>
            <a:off x="8503920" y="2029968"/>
            <a:ext cx="320040" cy="201168"/>
          </a:xfrm>
          <a:prstGeom prst="chevron">
            <a:avLst/>
          </a:prstGeom>
          <a:solidFill>
            <a:srgbClr val="D8E1EE"/>
          </a:solidFill>
          <a:ln w="12700">
            <a:solidFill>
              <a:srgbClr val="D8E1EE"/>
            </a:solidFill>
            <a:prstDash val="solid"/>
          </a:ln>
        </p:spPr>
      </p:sp>
      <p:sp>
        <p:nvSpPr>
          <p:cNvPr id="21" name="Shape 18"/>
          <p:cNvSpPr/>
          <p:nvPr/>
        </p:nvSpPr>
        <p:spPr>
          <a:xfrm>
            <a:off x="9144000" y="1874520"/>
            <a:ext cx="566928" cy="566928"/>
          </a:xfrm>
          <a:prstGeom prst="ellipse">
            <a:avLst/>
          </a:prstGeom>
          <a:solidFill>
            <a:srgbClr val="003375"/>
          </a:solidFill>
          <a:ln w="12700">
            <a:solidFill>
              <a:srgbClr val="003375"/>
            </a:solidFill>
            <a:prstDash val="solid"/>
          </a:ln>
        </p:spPr>
      </p:sp>
      <p:sp>
        <p:nvSpPr>
          <p:cNvPr id="22" name="Text 19"/>
          <p:cNvSpPr/>
          <p:nvPr/>
        </p:nvSpPr>
        <p:spPr>
          <a:xfrm>
            <a:off x="9144000" y="2029968"/>
            <a:ext cx="566928" cy="14630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3" name="Text 20"/>
          <p:cNvSpPr/>
          <p:nvPr/>
        </p:nvSpPr>
        <p:spPr>
          <a:xfrm>
            <a:off x="9144000" y="2697480"/>
            <a:ext cx="2240280" cy="274320"/>
          </a:xfrm>
          <a:prstGeom prst="rect">
            <a:avLst/>
          </a:prstGeom>
          <a:noFill/>
          <a:ln/>
        </p:spPr>
        <p:txBody>
          <a:bodyPr wrap="square" lIns="0" tIns="0" rIns="0" bIns="0" rtlCol="0" anchor="ctr">
            <a:normAutofit/>
          </a:bodyPr>
          <a:lstStyle/>
          <a:p>
            <a:pPr indent="0" marL="0">
              <a:buNone/>
            </a:pPr>
            <a:r>
              <a:rPr lang="en-US" sz="1500" b="1" dirty="0">
                <a:solidFill>
                  <a:srgbClr val="0F172A"/>
                </a:solidFill>
              </a:rPr>
              <a:t>Theo d?i</a:t>
            </a:r>
            <a:endParaRPr lang="en-US" sz="1500" dirty="0"/>
          </a:p>
        </p:txBody>
      </p:sp>
      <p:sp>
        <p:nvSpPr>
          <p:cNvPr id="24" name="Text 21"/>
          <p:cNvSpPr/>
          <p:nvPr/>
        </p:nvSpPr>
        <p:spPr>
          <a:xfrm>
            <a:off x="9144000" y="3090672"/>
            <a:ext cx="2240280" cy="731520"/>
          </a:xfrm>
          <a:prstGeom prst="rect">
            <a:avLst/>
          </a:prstGeom>
          <a:noFill/>
          <a:ln/>
        </p:spPr>
        <p:txBody>
          <a:bodyPr wrap="square" lIns="254" tIns="254" rIns="254" bIns="254" rtlCol="0" anchor="ctr">
            <a:normAutofit/>
          </a:bodyPr>
          <a:lstStyle/>
          <a:p>
            <a:pPr indent="0" marL="0">
              <a:buNone/>
            </a:pPr>
            <a:r>
              <a:rPr lang="en-US" sz="1020" dirty="0">
                <a:solidFill>
                  <a:srgbClr val="475569"/>
                </a:solidFill>
              </a:rPr>
              <a:t>Xem GPA, l?ch h?c, l?ch thi, s? ki?n, th?ng b?o v? AI Advisor.</a:t>
            </a:r>
            <a:endParaRPr lang="en-US" sz="1020" dirty="0"/>
          </a:p>
        </p:txBody>
      </p:sp>
      <p:sp>
        <p:nvSpPr>
          <p:cNvPr id="25" name="Shape 22"/>
          <p:cNvSpPr/>
          <p:nvPr/>
        </p:nvSpPr>
        <p:spPr>
          <a:xfrm>
            <a:off x="1005840" y="4800600"/>
            <a:ext cx="10149840" cy="822960"/>
          </a:xfrm>
          <a:prstGeom prst="roundRect">
            <a:avLst>
              <a:gd name="adj" fmla="val 8889"/>
            </a:avLst>
          </a:prstGeom>
          <a:solidFill>
            <a:srgbClr val="003375"/>
          </a:solidFill>
          <a:ln w="12700">
            <a:solidFill>
              <a:srgbClr val="003375"/>
            </a:solidFill>
            <a:prstDash val="solid"/>
          </a:ln>
        </p:spPr>
      </p:sp>
      <p:sp>
        <p:nvSpPr>
          <p:cNvPr id="26" name="Text 23"/>
          <p:cNvSpPr/>
          <p:nvPr/>
        </p:nvSpPr>
        <p:spPr>
          <a:xfrm>
            <a:off x="1234440" y="5074920"/>
            <a:ext cx="9692640" cy="23774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rPr>
              <a:t>HUB Planner gi?p sinh vi?n ch? ??ng h?n: bi?t m?nh ?ang ? ??u, c?n l?m g? ti?p theo v? kh?ng b? l? th?ng tin quan tr?ng.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HUB Planner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HUB Planner - H? tr? Sinh vi?n</dc:title>
  <dc:subject>Gi?i thi?u website HUB Planner</dc:subject>
  <dc:creator>HUB Planner</dc:creator>
  <cp:lastModifiedBy>HUB Planner</cp:lastModifiedBy>
  <cp:revision>1</cp:revision>
  <dcterms:created xsi:type="dcterms:W3CDTF">2026-04-27T15:09:28Z</dcterms:created>
  <dcterms:modified xsi:type="dcterms:W3CDTF">2026-04-27T15:09:28Z</dcterms:modified>
</cp:coreProperties>
</file>